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avif"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2"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BC0E8EE3-2FE3-41D6-9F5A-37AA374C5D0C}" type="datetimeFigureOut">
              <a:rPr lang="en-IN" smtClean="0"/>
              <a:t>07-02-2025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A305B1-99BA-45C8-BAE7-E085ADA59F47}" type="slidenum">
              <a:rPr lang="en-IN" smtClean="0"/>
              <a:t>‹#›</a:t>
            </a:fld>
            <a:endParaRPr lang="en-IN"/>
          </a:p>
        </p:txBody>
      </p:sp>
    </p:spTree>
    <p:extLst>
      <p:ext uri="{BB962C8B-B14F-4D97-AF65-F5344CB8AC3E}">
        <p14:creationId xmlns:p14="http://schemas.microsoft.com/office/powerpoint/2010/main" val="22160560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C0E8EE3-2FE3-41D6-9F5A-37AA374C5D0C}" type="datetimeFigureOut">
              <a:rPr lang="en-IN" smtClean="0"/>
              <a:t>07-02-2025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A305B1-99BA-45C8-BAE7-E085ADA59F47}" type="slidenum">
              <a:rPr lang="en-IN" smtClean="0"/>
              <a:t>‹#›</a:t>
            </a:fld>
            <a:endParaRPr lang="en-IN"/>
          </a:p>
        </p:txBody>
      </p:sp>
    </p:spTree>
    <p:extLst>
      <p:ext uri="{BB962C8B-B14F-4D97-AF65-F5344CB8AC3E}">
        <p14:creationId xmlns:p14="http://schemas.microsoft.com/office/powerpoint/2010/main" val="1912924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C0E8EE3-2FE3-41D6-9F5A-37AA374C5D0C}" type="datetimeFigureOut">
              <a:rPr lang="en-IN" smtClean="0"/>
              <a:t>07-02-2025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A305B1-99BA-45C8-BAE7-E085ADA59F47}" type="slidenum">
              <a:rPr lang="en-IN" smtClean="0"/>
              <a:t>‹#›</a:t>
            </a:fld>
            <a:endParaRPr lang="en-IN"/>
          </a:p>
        </p:txBody>
      </p:sp>
    </p:spTree>
    <p:extLst>
      <p:ext uri="{BB962C8B-B14F-4D97-AF65-F5344CB8AC3E}">
        <p14:creationId xmlns:p14="http://schemas.microsoft.com/office/powerpoint/2010/main" val="2855068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BC0E8EE3-2FE3-41D6-9F5A-37AA374C5D0C}" type="datetimeFigureOut">
              <a:rPr lang="en-IN" smtClean="0"/>
              <a:t>07-02-2025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A305B1-99BA-45C8-BAE7-E085ADA59F47}" type="slidenum">
              <a:rPr lang="en-IN" smtClean="0"/>
              <a:t>‹#›</a:t>
            </a:fld>
            <a:endParaRPr lang="en-IN"/>
          </a:p>
        </p:txBody>
      </p:sp>
    </p:spTree>
    <p:extLst>
      <p:ext uri="{BB962C8B-B14F-4D97-AF65-F5344CB8AC3E}">
        <p14:creationId xmlns:p14="http://schemas.microsoft.com/office/powerpoint/2010/main" val="39221083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BC0E8EE3-2FE3-41D6-9F5A-37AA374C5D0C}" type="datetimeFigureOut">
              <a:rPr lang="en-IN" smtClean="0"/>
              <a:t>07-02-2025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3A305B1-99BA-45C8-BAE7-E085ADA59F47}" type="slidenum">
              <a:rPr lang="en-IN" smtClean="0"/>
              <a:t>‹#›</a:t>
            </a:fld>
            <a:endParaRPr lang="en-IN"/>
          </a:p>
        </p:txBody>
      </p:sp>
    </p:spTree>
    <p:extLst>
      <p:ext uri="{BB962C8B-B14F-4D97-AF65-F5344CB8AC3E}">
        <p14:creationId xmlns:p14="http://schemas.microsoft.com/office/powerpoint/2010/main" val="3637079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BC0E8EE3-2FE3-41D6-9F5A-37AA374C5D0C}" type="datetimeFigureOut">
              <a:rPr lang="en-IN" smtClean="0"/>
              <a:t>07-02-2025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3A305B1-99BA-45C8-BAE7-E085ADA59F47}" type="slidenum">
              <a:rPr lang="en-IN" smtClean="0"/>
              <a:t>‹#›</a:t>
            </a:fld>
            <a:endParaRPr lang="en-IN"/>
          </a:p>
        </p:txBody>
      </p:sp>
    </p:spTree>
    <p:extLst>
      <p:ext uri="{BB962C8B-B14F-4D97-AF65-F5344CB8AC3E}">
        <p14:creationId xmlns:p14="http://schemas.microsoft.com/office/powerpoint/2010/main" val="12097317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0E8EE3-2FE3-41D6-9F5A-37AA374C5D0C}" type="datetimeFigureOut">
              <a:rPr lang="en-IN" smtClean="0"/>
              <a:t>07-02-2025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3A305B1-99BA-45C8-BAE7-E085ADA59F47}" type="slidenum">
              <a:rPr lang="en-IN" smtClean="0"/>
              <a:t>‹#›</a:t>
            </a:fld>
            <a:endParaRPr lang="en-IN"/>
          </a:p>
        </p:txBody>
      </p:sp>
    </p:spTree>
    <p:extLst>
      <p:ext uri="{BB962C8B-B14F-4D97-AF65-F5344CB8AC3E}">
        <p14:creationId xmlns:p14="http://schemas.microsoft.com/office/powerpoint/2010/main" val="40940341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0E8EE3-2FE3-41D6-9F5A-37AA374C5D0C}" type="datetimeFigureOut">
              <a:rPr lang="en-IN" smtClean="0"/>
              <a:t>07-02-2025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A305B1-99BA-45C8-BAE7-E085ADA59F47}" type="slidenum">
              <a:rPr lang="en-IN" smtClean="0"/>
              <a:t>‹#›</a:t>
            </a:fld>
            <a:endParaRPr lang="en-IN"/>
          </a:p>
        </p:txBody>
      </p:sp>
    </p:spTree>
    <p:extLst>
      <p:ext uri="{BB962C8B-B14F-4D97-AF65-F5344CB8AC3E}">
        <p14:creationId xmlns:p14="http://schemas.microsoft.com/office/powerpoint/2010/main" val="6808013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0E8EE3-2FE3-41D6-9F5A-37AA374C5D0C}" type="datetimeFigureOut">
              <a:rPr lang="en-IN" smtClean="0"/>
              <a:t>07-02-2025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A305B1-99BA-45C8-BAE7-E085ADA59F47}" type="slidenum">
              <a:rPr lang="en-IN" smtClean="0"/>
              <a:t>‹#›</a:t>
            </a:fld>
            <a:endParaRPr lang="en-IN"/>
          </a:p>
        </p:txBody>
      </p:sp>
    </p:spTree>
    <p:extLst>
      <p:ext uri="{BB962C8B-B14F-4D97-AF65-F5344CB8AC3E}">
        <p14:creationId xmlns:p14="http://schemas.microsoft.com/office/powerpoint/2010/main" val="1702042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C0E8EE3-2FE3-41D6-9F5A-37AA374C5D0C}" type="datetimeFigureOut">
              <a:rPr lang="en-IN" smtClean="0"/>
              <a:t>07-02-2025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A305B1-99BA-45C8-BAE7-E085ADA59F47}" type="slidenum">
              <a:rPr lang="en-IN" smtClean="0"/>
              <a:t>‹#›</a:t>
            </a:fld>
            <a:endParaRPr lang="en-IN"/>
          </a:p>
        </p:txBody>
      </p:sp>
    </p:spTree>
    <p:extLst>
      <p:ext uri="{BB962C8B-B14F-4D97-AF65-F5344CB8AC3E}">
        <p14:creationId xmlns:p14="http://schemas.microsoft.com/office/powerpoint/2010/main" val="961309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C0E8EE3-2FE3-41D6-9F5A-37AA374C5D0C}" type="datetimeFigureOut">
              <a:rPr lang="en-IN" smtClean="0"/>
              <a:t>07-02-2025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A305B1-99BA-45C8-BAE7-E085ADA59F47}" type="slidenum">
              <a:rPr lang="en-IN" smtClean="0"/>
              <a:t>‹#›</a:t>
            </a:fld>
            <a:endParaRPr lang="en-IN"/>
          </a:p>
        </p:txBody>
      </p:sp>
    </p:spTree>
    <p:extLst>
      <p:ext uri="{BB962C8B-B14F-4D97-AF65-F5344CB8AC3E}">
        <p14:creationId xmlns:p14="http://schemas.microsoft.com/office/powerpoint/2010/main" val="3705206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0E8EE3-2FE3-41D6-9F5A-37AA374C5D0C}" type="datetimeFigureOut">
              <a:rPr lang="en-IN" smtClean="0"/>
              <a:t>07-02-2025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A305B1-99BA-45C8-BAE7-E085ADA59F47}" type="slidenum">
              <a:rPr lang="en-IN" smtClean="0"/>
              <a:t>‹#›</a:t>
            </a:fld>
            <a:endParaRPr lang="en-IN"/>
          </a:p>
        </p:txBody>
      </p:sp>
    </p:spTree>
    <p:extLst>
      <p:ext uri="{BB962C8B-B14F-4D97-AF65-F5344CB8AC3E}">
        <p14:creationId xmlns:p14="http://schemas.microsoft.com/office/powerpoint/2010/main" val="36493888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av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2000" dirty="0" smtClean="0"/>
              <a:t/>
            </a:r>
            <a:br>
              <a:rPr lang="en-US" sz="2000" dirty="0" smtClean="0"/>
            </a:br>
            <a:r>
              <a:rPr lang="en-US" sz="2000" dirty="0"/>
              <a:t/>
            </a:r>
            <a:br>
              <a:rPr lang="en-US" sz="2000" dirty="0"/>
            </a:br>
            <a:r>
              <a:rPr lang="en-US" sz="2000" dirty="0" smtClean="0"/>
              <a:t/>
            </a:r>
            <a:br>
              <a:rPr lang="en-US" sz="2000" dirty="0" smtClean="0"/>
            </a:br>
            <a:r>
              <a:rPr lang="en-US" sz="2000" dirty="0"/>
              <a:t/>
            </a:r>
            <a:br>
              <a:rPr lang="en-US" sz="2000" dirty="0"/>
            </a:br>
            <a:r>
              <a:rPr lang="en-US" sz="2000" dirty="0" smtClean="0"/>
              <a:t/>
            </a:r>
            <a:br>
              <a:rPr lang="en-US" sz="2000" dirty="0" smtClean="0"/>
            </a:br>
            <a:endParaRPr lang="en-IN" sz="2000" dirty="0"/>
          </a:p>
        </p:txBody>
      </p:sp>
      <p:sp>
        <p:nvSpPr>
          <p:cNvPr id="3" name="Subtitle 2"/>
          <p:cNvSpPr>
            <a:spLocks noGrp="1"/>
          </p:cNvSpPr>
          <p:nvPr>
            <p:ph type="subTitle" idx="1"/>
          </p:nvPr>
        </p:nvSpPr>
        <p:spPr>
          <a:xfrm>
            <a:off x="1524000" y="128789"/>
            <a:ext cx="9144000" cy="6568226"/>
          </a:xfrm>
        </p:spPr>
        <p:txBody>
          <a:bodyPr>
            <a:normAutofit fontScale="77500" lnSpcReduction="20000"/>
          </a:bodyPr>
          <a:lstStyle/>
          <a:p>
            <a:pPr algn="just"/>
            <a:r>
              <a:rPr lang="en-US" dirty="0" err="1" smtClean="0"/>
              <a:t>Seaborn</a:t>
            </a:r>
            <a:r>
              <a:rPr lang="en-US" dirty="0" smtClean="0"/>
              <a:t> is an amazing visualization library for statistical graphics     plotting in Python. It provides beautiful default styles and color palettes to make statistical plots more attractive. It is built on top </a:t>
            </a:r>
            <a:r>
              <a:rPr lang="en-US" dirty="0" err="1" smtClean="0"/>
              <a:t>matplotlib</a:t>
            </a:r>
            <a:r>
              <a:rPr lang="en-US" dirty="0" smtClean="0"/>
              <a:t> library and is also closely integrated with the data structures from </a:t>
            </a:r>
            <a:r>
              <a:rPr lang="en-US" u="sng" dirty="0" smtClean="0"/>
              <a:t>pandas</a:t>
            </a:r>
          </a:p>
          <a:p>
            <a:pPr algn="just"/>
            <a:endParaRPr lang="en-US" u="sng" dirty="0"/>
          </a:p>
          <a:p>
            <a:pPr algn="just"/>
            <a:endParaRPr lang="en-US" u="sng" dirty="0" smtClean="0"/>
          </a:p>
          <a:p>
            <a:pPr algn="just"/>
            <a:r>
              <a:rPr lang="en-IN" b="1" dirty="0" err="1"/>
              <a:t>Seaborn</a:t>
            </a:r>
            <a:r>
              <a:rPr lang="en-IN" b="1" dirty="0"/>
              <a:t> vs. </a:t>
            </a:r>
            <a:r>
              <a:rPr lang="en-IN" b="1" dirty="0" err="1" smtClean="0"/>
              <a:t>Matplotlib</a:t>
            </a:r>
            <a:endParaRPr lang="en-IN" b="1" dirty="0" smtClean="0"/>
          </a:p>
          <a:p>
            <a:pPr algn="just"/>
            <a:endParaRPr lang="en-US" b="1" dirty="0"/>
          </a:p>
          <a:p>
            <a:pPr algn="just"/>
            <a:r>
              <a:rPr lang="en-US" dirty="0" smtClean="0"/>
              <a:t>a </a:t>
            </a:r>
            <a:r>
              <a:rPr lang="en-US" dirty="0" smtClean="0"/>
              <a:t>main differences between </a:t>
            </a:r>
            <a:r>
              <a:rPr lang="en-US" dirty="0" err="1" smtClean="0"/>
              <a:t>Matplotlib</a:t>
            </a:r>
            <a:r>
              <a:rPr lang="en-US" dirty="0" smtClean="0"/>
              <a:t> and </a:t>
            </a:r>
            <a:r>
              <a:rPr lang="en-US" dirty="0" err="1" smtClean="0"/>
              <a:t>Seaborn</a:t>
            </a:r>
            <a:r>
              <a:rPr lang="en-US" dirty="0" smtClean="0"/>
              <a:t> is their focus. </a:t>
            </a:r>
            <a:r>
              <a:rPr lang="en-US" dirty="0" err="1" smtClean="0"/>
              <a:t>Matplotlib</a:t>
            </a:r>
            <a:r>
              <a:rPr lang="en-US" dirty="0" smtClean="0"/>
              <a:t> is a low-level plotting library that provides </a:t>
            </a:r>
            <a:r>
              <a:rPr lang="en-US" dirty="0" smtClean="0"/>
              <a:t>wide </a:t>
            </a:r>
            <a:r>
              <a:rPr lang="en-US" dirty="0"/>
              <a:t>range of tools for creating highly customizable visualizations. It is a highly flexible library, allowing users to create almost any type of plot they can imagine. This flexibility comes at the cost of a steeper learning curve and more verbose code.</a:t>
            </a:r>
          </a:p>
          <a:p>
            <a:pPr algn="just"/>
            <a:r>
              <a:rPr lang="en-US" dirty="0" err="1"/>
              <a:t>Seaborn</a:t>
            </a:r>
            <a:r>
              <a:rPr lang="en-US" dirty="0"/>
              <a:t>, on the other hand, is a high-level interface for creating statistical graphics. It is built on top of </a:t>
            </a:r>
            <a:r>
              <a:rPr lang="en-US" dirty="0" err="1"/>
              <a:t>Matplotlib</a:t>
            </a:r>
            <a:r>
              <a:rPr lang="en-US" dirty="0"/>
              <a:t> and provides a simpler, more intuitive interface for creating common statistical plots. </a:t>
            </a:r>
            <a:r>
              <a:rPr lang="en-US" dirty="0" err="1"/>
              <a:t>Seaborn</a:t>
            </a:r>
            <a:r>
              <a:rPr lang="en-US" dirty="0"/>
              <a:t> is designed to work with Pandas </a:t>
            </a:r>
            <a:r>
              <a:rPr lang="en-US" dirty="0" err="1"/>
              <a:t>dataframes</a:t>
            </a:r>
            <a:r>
              <a:rPr lang="en-US" dirty="0"/>
              <a:t>, making it easy to create visualizations with minimal code. It also offers a range of built-in statistical functions, allowing users to easily perform complex statistical analyses with their visualizations</a:t>
            </a:r>
            <a:r>
              <a:rPr lang="en-US" dirty="0" smtClean="0"/>
              <a:t>.</a:t>
            </a:r>
          </a:p>
          <a:p>
            <a:pPr algn="just"/>
            <a:endParaRPr lang="en-US" dirty="0"/>
          </a:p>
          <a:p>
            <a:pPr algn="just"/>
            <a:r>
              <a:rPr lang="en-US" dirty="0"/>
              <a:t>Another key difference between </a:t>
            </a:r>
            <a:r>
              <a:rPr lang="en-US" dirty="0" err="1"/>
              <a:t>Matplotlib</a:t>
            </a:r>
            <a:r>
              <a:rPr lang="en-US" dirty="0"/>
              <a:t> and </a:t>
            </a:r>
            <a:r>
              <a:rPr lang="en-US" dirty="0" err="1"/>
              <a:t>Seaborn</a:t>
            </a:r>
            <a:r>
              <a:rPr lang="en-US" dirty="0"/>
              <a:t> is their default styles and color palettes. </a:t>
            </a:r>
            <a:r>
              <a:rPr lang="en-US" dirty="0" err="1"/>
              <a:t>Matplotlib</a:t>
            </a:r>
            <a:r>
              <a:rPr lang="en-US" dirty="0"/>
              <a:t> provides a limited set of default styles and color palettes, requiring users to customize their plots manually to achieve a desired look. </a:t>
            </a:r>
            <a:r>
              <a:rPr lang="en-US" dirty="0" err="1"/>
              <a:t>Seaborn</a:t>
            </a:r>
            <a:r>
              <a:rPr lang="en-US" dirty="0"/>
              <a:t>, on the other hand, offers a range of default styles and color palettes that are optimized for different types of data and visualizations. This makes it easy for users to create visually appealing plots with minimal customization.</a:t>
            </a:r>
          </a:p>
          <a:p>
            <a:pPr algn="just"/>
            <a:endParaRPr lang="en-US" b="1" dirty="0" smtClean="0"/>
          </a:p>
          <a:p>
            <a:pPr algn="just"/>
            <a:endParaRPr lang="en-US" b="1" dirty="0"/>
          </a:p>
          <a:p>
            <a:pPr algn="just"/>
            <a:endParaRPr lang="en-US" b="1" dirty="0" smtClean="0"/>
          </a:p>
          <a:p>
            <a:pPr algn="just"/>
            <a:endParaRPr lang="en-US" b="1" dirty="0"/>
          </a:p>
          <a:p>
            <a:pPr algn="just"/>
            <a:endParaRPr lang="en-US" b="1" dirty="0" smtClean="0"/>
          </a:p>
          <a:p>
            <a:pPr algn="just"/>
            <a:endParaRPr lang="en-US" b="1" dirty="0"/>
          </a:p>
          <a:p>
            <a:pPr algn="just"/>
            <a:endParaRPr lang="en-US" b="1" dirty="0" smtClean="0"/>
          </a:p>
          <a:p>
            <a:pPr algn="just"/>
            <a:endParaRPr lang="en-US" b="1" dirty="0"/>
          </a:p>
          <a:p>
            <a:pPr algn="just"/>
            <a:endParaRPr lang="en-IN" b="1" dirty="0"/>
          </a:p>
          <a:p>
            <a:pPr algn="just"/>
            <a:endParaRPr lang="en-US" u="sng" dirty="0" smtClean="0"/>
          </a:p>
          <a:p>
            <a:endParaRPr lang="en-US" u="sng" dirty="0"/>
          </a:p>
          <a:p>
            <a:endParaRPr lang="en-US" u="sng" dirty="0" smtClean="0"/>
          </a:p>
          <a:p>
            <a:endParaRPr lang="en-US" u="sng" dirty="0"/>
          </a:p>
          <a:p>
            <a:endParaRPr lang="en-IN" dirty="0"/>
          </a:p>
        </p:txBody>
      </p:sp>
    </p:spTree>
    <p:extLst>
      <p:ext uri="{BB962C8B-B14F-4D97-AF65-F5344CB8AC3E}">
        <p14:creationId xmlns:p14="http://schemas.microsoft.com/office/powerpoint/2010/main" val="3309162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err="1"/>
              <a:t>Seaborn</a:t>
            </a:r>
            <a:r>
              <a:rPr lang="en-IN" b="1" dirty="0"/>
              <a:t> Plot types</a:t>
            </a:r>
            <a:br>
              <a:rPr lang="en-IN" b="1" dirty="0"/>
            </a:br>
            <a:endParaRPr lang="en-IN" dirty="0"/>
          </a:p>
        </p:txBody>
      </p:sp>
      <p:sp>
        <p:nvSpPr>
          <p:cNvPr id="3" name="Content Placeholder 2"/>
          <p:cNvSpPr>
            <a:spLocks noGrp="1"/>
          </p:cNvSpPr>
          <p:nvPr>
            <p:ph idx="1"/>
          </p:nvPr>
        </p:nvSpPr>
        <p:spPr/>
        <p:txBody>
          <a:bodyPr/>
          <a:lstStyle/>
          <a:p>
            <a:r>
              <a:rPr lang="en-US" b="1" dirty="0" err="1"/>
              <a:t>Univariate</a:t>
            </a:r>
            <a:r>
              <a:rPr lang="en-US" dirty="0"/>
              <a:t> – x only (contains only one axis of information)</a:t>
            </a:r>
          </a:p>
          <a:p>
            <a:r>
              <a:rPr lang="en-US" b="1" dirty="0"/>
              <a:t>Bivariate</a:t>
            </a:r>
            <a:r>
              <a:rPr lang="en-US" dirty="0"/>
              <a:t> – x and y (contains two axis of information)</a:t>
            </a:r>
          </a:p>
          <a:p>
            <a:r>
              <a:rPr lang="en-US" b="1" dirty="0" err="1"/>
              <a:t>Trivariate</a:t>
            </a:r>
            <a:r>
              <a:rPr lang="en-US" dirty="0"/>
              <a:t> – x, y, z (contains three axis of information)</a:t>
            </a:r>
          </a:p>
          <a:p>
            <a:r>
              <a:rPr lang="en-US" dirty="0" smtClean="0"/>
              <a:t/>
            </a:r>
            <a:br>
              <a:rPr lang="en-US" dirty="0" smtClean="0"/>
            </a:b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6974" y="3741758"/>
            <a:ext cx="10058400" cy="3158434"/>
          </a:xfrm>
          <a:prstGeom prst="rect">
            <a:avLst/>
          </a:prstGeom>
        </p:spPr>
      </p:pic>
    </p:spTree>
    <p:extLst>
      <p:ext uri="{BB962C8B-B14F-4D97-AF65-F5344CB8AC3E}">
        <p14:creationId xmlns:p14="http://schemas.microsoft.com/office/powerpoint/2010/main" val="2728249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 Of Different Plot Using </a:t>
            </a:r>
            <a:r>
              <a:rPr lang="en-US" dirty="0" err="1" smtClean="0"/>
              <a:t>Seaborn</a:t>
            </a:r>
            <a:endParaRPr lang="en-IN" dirty="0"/>
          </a:p>
        </p:txBody>
      </p:sp>
      <p:sp>
        <p:nvSpPr>
          <p:cNvPr id="3" name="Content Placeholder 2"/>
          <p:cNvSpPr>
            <a:spLocks noGrp="1"/>
          </p:cNvSpPr>
          <p:nvPr>
            <p:ph idx="1"/>
          </p:nvPr>
        </p:nvSpPr>
        <p:spPr/>
        <p:txBody>
          <a:bodyPr>
            <a:normAutofit fontScale="70000" lnSpcReduction="20000"/>
          </a:bodyPr>
          <a:lstStyle/>
          <a:p>
            <a:r>
              <a:rPr lang="en-US" b="1" dirty="0"/>
              <a:t>Scatter Plot</a:t>
            </a:r>
            <a:r>
              <a:rPr lang="en-US" dirty="0"/>
              <a:t>. A scatter plot is used to visualize the relationship between two variables. </a:t>
            </a:r>
            <a:r>
              <a:rPr lang="en-US" dirty="0" err="1"/>
              <a:t>Seaborn's</a:t>
            </a:r>
            <a:r>
              <a:rPr lang="en-US" dirty="0"/>
              <a:t> scatterplot() function provides a simple way to create scatter plots.</a:t>
            </a:r>
          </a:p>
          <a:p>
            <a:r>
              <a:rPr lang="en-US" b="1" dirty="0"/>
              <a:t>Line Plot</a:t>
            </a:r>
            <a:r>
              <a:rPr lang="en-US" dirty="0"/>
              <a:t>. A line plot is used to visualize the trend of a variable over time. </a:t>
            </a:r>
            <a:r>
              <a:rPr lang="en-US" dirty="0" err="1"/>
              <a:t>Seaborn's</a:t>
            </a:r>
            <a:r>
              <a:rPr lang="en-US" dirty="0"/>
              <a:t> </a:t>
            </a:r>
            <a:r>
              <a:rPr lang="en-US" dirty="0" err="1"/>
              <a:t>lineplot</a:t>
            </a:r>
            <a:r>
              <a:rPr lang="en-US" dirty="0"/>
              <a:t>() function provides a simple way to create line plots.</a:t>
            </a:r>
          </a:p>
          <a:p>
            <a:r>
              <a:rPr lang="en-US" b="1" dirty="0"/>
              <a:t>Histogram</a:t>
            </a:r>
            <a:r>
              <a:rPr lang="en-US" dirty="0"/>
              <a:t>. A histogram is used to visualize the distribution of a variable. </a:t>
            </a:r>
            <a:r>
              <a:rPr lang="en-US" dirty="0" err="1"/>
              <a:t>Seaborn's</a:t>
            </a:r>
            <a:r>
              <a:rPr lang="en-US" dirty="0"/>
              <a:t> </a:t>
            </a:r>
            <a:r>
              <a:rPr lang="en-US" dirty="0" err="1"/>
              <a:t>histplot</a:t>
            </a:r>
            <a:r>
              <a:rPr lang="en-US" dirty="0"/>
              <a:t>() function provides a simple way to create histograms.</a:t>
            </a:r>
          </a:p>
          <a:p>
            <a:r>
              <a:rPr lang="en-US" b="1" dirty="0"/>
              <a:t>Box Plot</a:t>
            </a:r>
            <a:r>
              <a:rPr lang="en-US" dirty="0"/>
              <a:t>. A box plot is used to visualize the distribution of a variable. </a:t>
            </a:r>
            <a:r>
              <a:rPr lang="en-US" dirty="0" err="1"/>
              <a:t>Seaborn's</a:t>
            </a:r>
            <a:r>
              <a:rPr lang="en-US" dirty="0"/>
              <a:t> boxplot() function provides a simple way to create box plots.</a:t>
            </a:r>
          </a:p>
          <a:p>
            <a:r>
              <a:rPr lang="en-US" b="1" dirty="0"/>
              <a:t>Violin Plot</a:t>
            </a:r>
            <a:r>
              <a:rPr lang="en-US" dirty="0"/>
              <a:t>. A violin plot is similar to a box plot, but provides a more detailed view of the distribution of the data. </a:t>
            </a:r>
            <a:r>
              <a:rPr lang="en-US" dirty="0" err="1"/>
              <a:t>Seaborn's</a:t>
            </a:r>
            <a:r>
              <a:rPr lang="en-US" dirty="0"/>
              <a:t> </a:t>
            </a:r>
            <a:r>
              <a:rPr lang="en-US" dirty="0" err="1"/>
              <a:t>violinplot</a:t>
            </a:r>
            <a:r>
              <a:rPr lang="en-US" dirty="0"/>
              <a:t>() function provides a simple way to create violin plots.</a:t>
            </a:r>
          </a:p>
          <a:p>
            <a:r>
              <a:rPr lang="en-US" b="1" dirty="0" err="1"/>
              <a:t>Heatmap</a:t>
            </a:r>
            <a:r>
              <a:rPr lang="en-US" dirty="0"/>
              <a:t>. A </a:t>
            </a:r>
            <a:r>
              <a:rPr lang="en-US" dirty="0" err="1"/>
              <a:t>heatmap</a:t>
            </a:r>
            <a:r>
              <a:rPr lang="en-US" dirty="0"/>
              <a:t> is used to visualize the correlation between different variables. </a:t>
            </a:r>
            <a:r>
              <a:rPr lang="en-US" dirty="0" err="1"/>
              <a:t>Seaborn's</a:t>
            </a:r>
            <a:r>
              <a:rPr lang="en-US" dirty="0"/>
              <a:t> </a:t>
            </a:r>
            <a:r>
              <a:rPr lang="en-US" dirty="0" err="1"/>
              <a:t>heatmap</a:t>
            </a:r>
            <a:r>
              <a:rPr lang="en-US" dirty="0"/>
              <a:t>() function provides a simple way to create </a:t>
            </a:r>
            <a:r>
              <a:rPr lang="en-US" dirty="0" err="1"/>
              <a:t>heatmaps</a:t>
            </a:r>
            <a:r>
              <a:rPr lang="en-US" dirty="0"/>
              <a:t>.</a:t>
            </a:r>
          </a:p>
          <a:p>
            <a:r>
              <a:rPr lang="en-US" b="1" dirty="0" err="1"/>
              <a:t>Pairplot</a:t>
            </a:r>
            <a:r>
              <a:rPr lang="en-US" dirty="0"/>
              <a:t>. A </a:t>
            </a:r>
            <a:r>
              <a:rPr lang="en-US" dirty="0" err="1"/>
              <a:t>pairplot</a:t>
            </a:r>
            <a:r>
              <a:rPr lang="en-US" dirty="0"/>
              <a:t> is used to visualize the relationship between multiple variables. </a:t>
            </a:r>
            <a:r>
              <a:rPr lang="en-US" dirty="0" err="1"/>
              <a:t>Seaborn's</a:t>
            </a:r>
            <a:r>
              <a:rPr lang="en-US" dirty="0"/>
              <a:t> </a:t>
            </a:r>
            <a:r>
              <a:rPr lang="en-US" dirty="0" err="1"/>
              <a:t>pairplot</a:t>
            </a:r>
            <a:r>
              <a:rPr lang="en-US" dirty="0"/>
              <a:t>() function provides a simple way to create </a:t>
            </a:r>
            <a:r>
              <a:rPr lang="en-US" dirty="0" err="1"/>
              <a:t>pairplots</a:t>
            </a:r>
            <a:r>
              <a:rPr lang="en-US" dirty="0"/>
              <a:t>.</a:t>
            </a:r>
          </a:p>
          <a:p>
            <a:endParaRPr lang="en-IN" dirty="0"/>
          </a:p>
        </p:txBody>
      </p:sp>
    </p:spTree>
    <p:extLst>
      <p:ext uri="{BB962C8B-B14F-4D97-AF65-F5344CB8AC3E}">
        <p14:creationId xmlns:p14="http://schemas.microsoft.com/office/powerpoint/2010/main" val="34929627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Seaborn</a:t>
            </a:r>
            <a:r>
              <a:rPr lang="en-US" b="1" dirty="0" smtClean="0"/>
              <a:t> scatter plots</a:t>
            </a:r>
            <a:br>
              <a:rPr lang="en-US" b="1" dirty="0" smtClean="0"/>
            </a:br>
            <a:endParaRPr lang="en-IN" dirty="0"/>
          </a:p>
        </p:txBody>
      </p:sp>
      <p:sp>
        <p:nvSpPr>
          <p:cNvPr id="3" name="Content Placeholder 2"/>
          <p:cNvSpPr>
            <a:spLocks noGrp="1"/>
          </p:cNvSpPr>
          <p:nvPr>
            <p:ph idx="1"/>
          </p:nvPr>
        </p:nvSpPr>
        <p:spPr/>
        <p:txBody>
          <a:bodyPr>
            <a:normAutofit/>
          </a:bodyPr>
          <a:lstStyle/>
          <a:p>
            <a:r>
              <a:rPr lang="en-US" dirty="0" smtClean="0"/>
              <a:t>Scatter </a:t>
            </a:r>
            <a:r>
              <a:rPr lang="en-US" dirty="0"/>
              <a:t>plots are used to visualize the relationship between two continuous variables. Each point on the plot represents a single data point, and the position of the point on the x and y-axis represents the values of the two variables. </a:t>
            </a:r>
            <a:endParaRPr lang="en-US" dirty="0" smtClean="0"/>
          </a:p>
          <a:p>
            <a:endParaRPr lang="en-US" dirty="0"/>
          </a:p>
          <a:p>
            <a:endParaRPr lang="en-IN" dirty="0"/>
          </a:p>
        </p:txBody>
      </p:sp>
    </p:spTree>
    <p:extLst>
      <p:ext uri="{BB962C8B-B14F-4D97-AF65-F5344CB8AC3E}">
        <p14:creationId xmlns:p14="http://schemas.microsoft.com/office/powerpoint/2010/main" val="13820201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0775" y="112734"/>
            <a:ext cx="10515600" cy="6494128"/>
          </a:xfrm>
        </p:spPr>
        <p:txBody>
          <a:bodyPr>
            <a:noAutofit/>
          </a:bodyPr>
          <a:lstStyle/>
          <a:p>
            <a:pPr marL="0" indent="0">
              <a:buNone/>
            </a:pPr>
            <a:r>
              <a:rPr lang="en-IN" sz="2000" dirty="0" smtClean="0"/>
              <a:t>import </a:t>
            </a:r>
            <a:r>
              <a:rPr lang="en-IN" sz="2000" dirty="0" err="1" smtClean="0"/>
              <a:t>seaborn</a:t>
            </a:r>
            <a:r>
              <a:rPr lang="en-IN" sz="2000" dirty="0" smtClean="0"/>
              <a:t> as </a:t>
            </a:r>
            <a:r>
              <a:rPr lang="en-IN" sz="2000" dirty="0" err="1" smtClean="0"/>
              <a:t>sns</a:t>
            </a:r>
            <a:endParaRPr lang="en-IN" sz="2000" dirty="0" smtClean="0"/>
          </a:p>
          <a:p>
            <a:pPr marL="0" indent="0">
              <a:buNone/>
            </a:pPr>
            <a:r>
              <a:rPr lang="en-IN" sz="2000" dirty="0" smtClean="0"/>
              <a:t>import </a:t>
            </a:r>
            <a:r>
              <a:rPr lang="en-IN" sz="2000" dirty="0" err="1" smtClean="0"/>
              <a:t>matplotlib.pyplot</a:t>
            </a:r>
            <a:r>
              <a:rPr lang="en-IN" sz="2000" dirty="0" smtClean="0"/>
              <a:t> as </a:t>
            </a:r>
            <a:r>
              <a:rPr lang="en-IN" sz="2000" dirty="0" err="1" smtClean="0"/>
              <a:t>plt</a:t>
            </a:r>
            <a:endParaRPr lang="en-IN" sz="2000" dirty="0" smtClean="0"/>
          </a:p>
          <a:p>
            <a:pPr marL="0" indent="0">
              <a:buNone/>
            </a:pPr>
            <a:endParaRPr lang="en-IN" sz="2000" dirty="0" smtClean="0"/>
          </a:p>
          <a:p>
            <a:pPr marL="0" indent="0">
              <a:buNone/>
            </a:pPr>
            <a:r>
              <a:rPr lang="en-IN" sz="2000" dirty="0" smtClean="0"/>
              <a:t>tips = </a:t>
            </a:r>
            <a:r>
              <a:rPr lang="en-IN" sz="2000" dirty="0" err="1" smtClean="0"/>
              <a:t>sns.load_dataset</a:t>
            </a:r>
            <a:r>
              <a:rPr lang="en-IN" sz="2000" dirty="0" smtClean="0"/>
              <a:t>("tips")</a:t>
            </a:r>
          </a:p>
          <a:p>
            <a:pPr marL="0" indent="0">
              <a:buNone/>
            </a:pPr>
            <a:r>
              <a:rPr lang="en-IN" sz="2000" dirty="0" err="1" smtClean="0"/>
              <a:t>sns.scatterplot</a:t>
            </a:r>
            <a:r>
              <a:rPr lang="en-IN" sz="2000" dirty="0" smtClean="0"/>
              <a:t>(x="</a:t>
            </a:r>
            <a:r>
              <a:rPr lang="en-IN" sz="2000" dirty="0" err="1" smtClean="0"/>
              <a:t>total_bill</a:t>
            </a:r>
            <a:r>
              <a:rPr lang="en-IN" sz="2000" dirty="0" smtClean="0"/>
              <a:t>", y="tip", hue="sex", size="size", sizes=(50, 200), data=tips)</a:t>
            </a:r>
          </a:p>
          <a:p>
            <a:pPr marL="0" indent="0">
              <a:buNone/>
            </a:pPr>
            <a:r>
              <a:rPr lang="en-IN" sz="2000" dirty="0" err="1" smtClean="0"/>
              <a:t>plt.xlabel</a:t>
            </a:r>
            <a:r>
              <a:rPr lang="en-IN" sz="2000" dirty="0" smtClean="0"/>
              <a:t>("Total Bill")</a:t>
            </a:r>
          </a:p>
          <a:p>
            <a:pPr marL="0" indent="0">
              <a:buNone/>
            </a:pPr>
            <a:r>
              <a:rPr lang="en-IN" sz="2000" dirty="0" err="1" smtClean="0"/>
              <a:t>plt.ylabel</a:t>
            </a:r>
            <a:r>
              <a:rPr lang="en-IN" sz="2000" dirty="0" smtClean="0"/>
              <a:t>("Tip")</a:t>
            </a:r>
          </a:p>
          <a:p>
            <a:pPr marL="0" indent="0">
              <a:buNone/>
            </a:pPr>
            <a:r>
              <a:rPr lang="en-IN" sz="2000" dirty="0" err="1" smtClean="0"/>
              <a:t>plt.title</a:t>
            </a:r>
            <a:r>
              <a:rPr lang="en-IN" sz="2000" dirty="0" smtClean="0"/>
              <a:t>("Relationship between Total Bill and Tip")</a:t>
            </a:r>
          </a:p>
          <a:p>
            <a:pPr marL="0" indent="0">
              <a:buNone/>
            </a:pPr>
            <a:r>
              <a:rPr lang="en-IN" sz="2000" dirty="0" err="1" smtClean="0"/>
              <a:t>plt.show</a:t>
            </a:r>
            <a:r>
              <a:rPr lang="en-IN" sz="2000" dirty="0" smtClean="0"/>
              <a:t>()</a:t>
            </a:r>
            <a:endParaRPr lang="en-IN" sz="2000" dirty="0"/>
          </a:p>
        </p:txBody>
      </p:sp>
    </p:spTree>
    <p:extLst>
      <p:ext uri="{BB962C8B-B14F-4D97-AF65-F5344CB8AC3E}">
        <p14:creationId xmlns:p14="http://schemas.microsoft.com/office/powerpoint/2010/main" val="5483246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err="1"/>
              <a:t>Seaborn</a:t>
            </a:r>
            <a:r>
              <a:rPr lang="en-IN" b="1" dirty="0"/>
              <a:t> line plots</a:t>
            </a:r>
            <a:br>
              <a:rPr lang="en-IN" b="1" dirty="0"/>
            </a:br>
            <a:endParaRPr lang="en-IN" dirty="0"/>
          </a:p>
        </p:txBody>
      </p:sp>
      <p:sp>
        <p:nvSpPr>
          <p:cNvPr id="4" name="Rectangle 1"/>
          <p:cNvSpPr>
            <a:spLocks noGrp="1" noChangeArrowheads="1"/>
          </p:cNvSpPr>
          <p:nvPr>
            <p:ph idx="1"/>
          </p:nvPr>
        </p:nvSpPr>
        <p:spPr bwMode="auto">
          <a:xfrm>
            <a:off x="423683" y="1209887"/>
            <a:ext cx="11128900" cy="5016758"/>
          </a:xfrm>
          <a:prstGeom prst="rect">
            <a:avLst/>
          </a:prstGeom>
          <a:solidFill>
            <a:srgbClr val="F7F7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05192D"/>
                </a:solidFill>
                <a:effectLst/>
                <a:latin typeface="Studio-Feixen-Sans"/>
              </a:rPr>
              <a:t>Line plots are used to visualize trends in data over time or other continuous variables.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05192D"/>
                </a:solidFill>
                <a:effectLst/>
                <a:latin typeface="Studio-Feixen-Sans"/>
              </a:rPr>
              <a:t>In a line plot, each data point is connected by a line, creating a smooth curve.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05192D"/>
                </a:solidFill>
                <a:effectLst/>
                <a:latin typeface="Studio-Feixen-Sans"/>
              </a:rPr>
              <a:t>In </a:t>
            </a:r>
            <a:r>
              <a:rPr kumimoji="0" lang="en-US" sz="2000" b="0" i="0" u="none" strike="noStrike" cap="none" normalizeH="0" baseline="0" dirty="0" err="1" smtClean="0">
                <a:ln>
                  <a:noFill/>
                </a:ln>
                <a:solidFill>
                  <a:srgbClr val="05192D"/>
                </a:solidFill>
                <a:effectLst/>
                <a:latin typeface="Studio-Feixen-Sans"/>
              </a:rPr>
              <a:t>Seaborn</a:t>
            </a:r>
            <a:r>
              <a:rPr kumimoji="0" lang="en-US" sz="2000" b="0" i="0" u="none" strike="noStrike" cap="none" normalizeH="0" baseline="0" dirty="0" smtClean="0">
                <a:ln>
                  <a:noFill/>
                </a:ln>
                <a:solidFill>
                  <a:srgbClr val="05192D"/>
                </a:solidFill>
                <a:effectLst/>
                <a:latin typeface="Studio-Feixen-Sans"/>
              </a:rPr>
              <a:t>, line plots can be created using the </a:t>
            </a:r>
            <a:r>
              <a:rPr kumimoji="0" lang="en-US" sz="2000" b="0" i="0" u="none" strike="noStrike" cap="none" normalizeH="0" baseline="0" dirty="0" err="1" smtClean="0">
                <a:ln>
                  <a:noFill/>
                </a:ln>
                <a:solidFill>
                  <a:srgbClr val="05192D"/>
                </a:solidFill>
                <a:effectLst/>
                <a:latin typeface="Studio-Feixen-Sans"/>
              </a:rPr>
              <a:t>lineplot</a:t>
            </a:r>
            <a:r>
              <a:rPr kumimoji="0" lang="en-US" sz="2000" b="0" i="0" u="none" strike="noStrike" cap="none" normalizeH="0" baseline="0" dirty="0" smtClean="0">
                <a:ln>
                  <a:noFill/>
                </a:ln>
                <a:solidFill>
                  <a:srgbClr val="05192D"/>
                </a:solidFill>
                <a:effectLst/>
                <a:latin typeface="Studio-Feixen-Sans"/>
              </a:rPr>
              <a:t>() function. </a:t>
            </a:r>
            <a:r>
              <a:rPr kumimoji="0" lang="en-US" sz="2000" b="0" i="0" u="none" strike="noStrike" cap="none" normalizeH="0" baseline="0" dirty="0" smtClean="0">
                <a:ln>
                  <a:noFill/>
                </a:ln>
                <a:solidFill>
                  <a:schemeClr val="tx1"/>
                </a:solidFill>
                <a:effectLst/>
              </a:rPr>
              <a:t> </a:t>
            </a:r>
          </a:p>
          <a:p>
            <a:pPr marL="0" marR="0" lvl="0" indent="0" algn="just" defTabSz="914400" rtl="0" eaLnBrk="0" fontAlgn="base" latinLnBrk="0" hangingPunct="0">
              <a:lnSpc>
                <a:spcPct val="100000"/>
              </a:lnSpc>
              <a:spcBef>
                <a:spcPct val="0"/>
              </a:spcBef>
              <a:spcAft>
                <a:spcPct val="0"/>
              </a:spcAft>
              <a:buClrTx/>
              <a:buSzTx/>
              <a:buFontTx/>
              <a:buNone/>
              <a:tabLst/>
            </a:pPr>
            <a:endParaRPr lang="en-US" sz="2000" dirty="0"/>
          </a:p>
          <a:p>
            <a:pPr marL="0" lvl="0" indent="0" algn="just">
              <a:lnSpc>
                <a:spcPct val="100000"/>
              </a:lnSpc>
              <a:buNone/>
            </a:pPr>
            <a:r>
              <a:rPr kumimoji="0" lang="en-US" sz="2000" b="0" i="0" u="none" strike="noStrike" cap="none" normalizeH="0" baseline="0" dirty="0" smtClean="0">
                <a:ln>
                  <a:noFill/>
                </a:ln>
                <a:solidFill>
                  <a:schemeClr val="tx1"/>
                </a:solidFill>
                <a:effectLst/>
              </a:rPr>
              <a:t>import </a:t>
            </a:r>
            <a:r>
              <a:rPr kumimoji="0" lang="en-US" sz="2000" b="0" i="0" u="none" strike="noStrike" cap="none" normalizeH="0" baseline="0" dirty="0" err="1" smtClean="0">
                <a:ln>
                  <a:noFill/>
                </a:ln>
                <a:solidFill>
                  <a:schemeClr val="tx1"/>
                </a:solidFill>
                <a:effectLst/>
              </a:rPr>
              <a:t>seaborn</a:t>
            </a:r>
            <a:r>
              <a:rPr kumimoji="0" lang="en-US" sz="2000" b="0" i="0" u="none" strike="noStrike" cap="none" normalizeH="0" baseline="0" dirty="0" smtClean="0">
                <a:ln>
                  <a:noFill/>
                </a:ln>
                <a:solidFill>
                  <a:schemeClr val="tx1"/>
                </a:solidFill>
                <a:effectLst/>
              </a:rPr>
              <a:t> as </a:t>
            </a:r>
            <a:r>
              <a:rPr kumimoji="0" lang="en-US" sz="2000" b="0" i="0" u="none" strike="noStrike" cap="none" normalizeH="0" baseline="0" dirty="0" err="1" smtClean="0">
                <a:ln>
                  <a:noFill/>
                </a:ln>
                <a:solidFill>
                  <a:schemeClr val="tx1"/>
                </a:solidFill>
                <a:effectLst/>
              </a:rPr>
              <a:t>sns</a:t>
            </a:r>
            <a:endParaRPr lang="en-US" sz="2000" dirty="0"/>
          </a:p>
          <a:p>
            <a:pPr marL="0" lvl="0" indent="0" algn="just">
              <a:lnSpc>
                <a:spcPct val="100000"/>
              </a:lnSpc>
              <a:buNone/>
            </a:pPr>
            <a:r>
              <a:rPr kumimoji="0" lang="en-US" sz="2000" b="0" i="0" u="none" strike="noStrike" cap="none" normalizeH="0" baseline="0" dirty="0" smtClean="0">
                <a:ln>
                  <a:noFill/>
                </a:ln>
                <a:solidFill>
                  <a:schemeClr val="tx1"/>
                </a:solidFill>
                <a:effectLst/>
              </a:rPr>
              <a:t>import </a:t>
            </a:r>
            <a:r>
              <a:rPr kumimoji="0" lang="en-US" sz="2000" b="0" i="0" u="none" strike="noStrike" cap="none" normalizeH="0" baseline="0" dirty="0" err="1" smtClean="0">
                <a:ln>
                  <a:noFill/>
                </a:ln>
                <a:solidFill>
                  <a:schemeClr val="tx1"/>
                </a:solidFill>
                <a:effectLst/>
              </a:rPr>
              <a:t>matplotlib.pyplot</a:t>
            </a:r>
            <a:r>
              <a:rPr kumimoji="0" lang="en-US" sz="2000" b="0" i="0" u="none" strike="noStrike" cap="none" normalizeH="0" baseline="0" dirty="0" smtClean="0">
                <a:ln>
                  <a:noFill/>
                </a:ln>
                <a:solidFill>
                  <a:schemeClr val="tx1"/>
                </a:solidFill>
                <a:effectLst/>
              </a:rPr>
              <a:t> as </a:t>
            </a:r>
            <a:r>
              <a:rPr kumimoji="0" lang="en-US" sz="2000" b="0" i="0" u="none" strike="noStrike" cap="none" normalizeH="0" baseline="0" dirty="0" err="1" smtClean="0">
                <a:ln>
                  <a:noFill/>
                </a:ln>
                <a:solidFill>
                  <a:schemeClr val="tx1"/>
                </a:solidFill>
                <a:effectLst/>
              </a:rPr>
              <a:t>plt</a:t>
            </a:r>
            <a:endParaRPr kumimoji="0" lang="en-US" sz="2000" b="0" i="0" u="none" strike="noStrike" cap="none" normalizeH="0" baseline="0" dirty="0" smtClean="0">
              <a:ln>
                <a:noFill/>
              </a:ln>
              <a:solidFill>
                <a:schemeClr val="tx1"/>
              </a:solidFill>
              <a:effectLst/>
            </a:endParaRPr>
          </a:p>
          <a:p>
            <a:pPr marL="0" lvl="0" indent="0" algn="just">
              <a:lnSpc>
                <a:spcPct val="100000"/>
              </a:lnSpc>
              <a:buNone/>
            </a:pPr>
            <a:endParaRPr kumimoji="0" lang="en-US" sz="2000" b="0" i="0" u="none" strike="noStrike" cap="none" normalizeH="0" baseline="0" dirty="0" smtClean="0">
              <a:ln>
                <a:noFill/>
              </a:ln>
              <a:solidFill>
                <a:schemeClr val="tx1"/>
              </a:solidFill>
              <a:effectLst/>
            </a:endParaRPr>
          </a:p>
          <a:p>
            <a:pPr marL="0" lvl="0" indent="0" algn="just">
              <a:lnSpc>
                <a:spcPct val="100000"/>
              </a:lnSpc>
              <a:buNone/>
            </a:pPr>
            <a:r>
              <a:rPr kumimoji="0" lang="en-US" sz="2000" b="0" i="0" u="none" strike="noStrike" cap="none" normalizeH="0" baseline="0" dirty="0" err="1" smtClean="0">
                <a:ln>
                  <a:noFill/>
                </a:ln>
                <a:solidFill>
                  <a:schemeClr val="tx1"/>
                </a:solidFill>
                <a:effectLst/>
              </a:rPr>
              <a:t>fmri</a:t>
            </a:r>
            <a:r>
              <a:rPr kumimoji="0" lang="en-US" sz="2000" b="0" i="0" u="none" strike="noStrike" cap="none" normalizeH="0" baseline="0" dirty="0" smtClean="0">
                <a:ln>
                  <a:noFill/>
                </a:ln>
                <a:solidFill>
                  <a:schemeClr val="tx1"/>
                </a:solidFill>
                <a:effectLst/>
              </a:rPr>
              <a:t> = </a:t>
            </a:r>
            <a:r>
              <a:rPr kumimoji="0" lang="en-US" sz="2000" b="0" i="0" u="none" strike="noStrike" cap="none" normalizeH="0" baseline="0" dirty="0" err="1" smtClean="0">
                <a:ln>
                  <a:noFill/>
                </a:ln>
                <a:solidFill>
                  <a:schemeClr val="tx1"/>
                </a:solidFill>
                <a:effectLst/>
              </a:rPr>
              <a:t>sns.load_dataset</a:t>
            </a:r>
            <a:r>
              <a:rPr kumimoji="0" lang="en-US" sz="2000" b="0" i="0" u="none" strike="noStrike" cap="none" normalizeH="0" baseline="0" dirty="0" smtClean="0">
                <a:ln>
                  <a:noFill/>
                </a:ln>
                <a:solidFill>
                  <a:schemeClr val="tx1"/>
                </a:solidFill>
                <a:effectLst/>
              </a:rPr>
              <a:t>("</a:t>
            </a:r>
            <a:r>
              <a:rPr kumimoji="0" lang="en-US" sz="2000" b="0" i="0" u="none" strike="noStrike" cap="none" normalizeH="0" baseline="0" dirty="0" err="1" smtClean="0">
                <a:ln>
                  <a:noFill/>
                </a:ln>
                <a:solidFill>
                  <a:schemeClr val="tx1"/>
                </a:solidFill>
                <a:effectLst/>
              </a:rPr>
              <a:t>fmri</a:t>
            </a:r>
            <a:r>
              <a:rPr kumimoji="0" lang="en-US" sz="2000" b="0" i="0" u="none" strike="noStrike" cap="none" normalizeH="0" baseline="0" dirty="0" smtClean="0">
                <a:ln>
                  <a:noFill/>
                </a:ln>
                <a:solidFill>
                  <a:schemeClr val="tx1"/>
                </a:solidFill>
                <a:effectLst/>
              </a:rPr>
              <a:t>")</a:t>
            </a:r>
          </a:p>
          <a:p>
            <a:pPr marL="0" lvl="0" indent="0" algn="just">
              <a:lnSpc>
                <a:spcPct val="100000"/>
              </a:lnSpc>
              <a:buNone/>
            </a:pPr>
            <a:r>
              <a:rPr kumimoji="0" lang="en-US" sz="2000" b="0" i="0" u="none" strike="noStrike" cap="none" normalizeH="0" baseline="0" dirty="0" err="1" smtClean="0">
                <a:ln>
                  <a:noFill/>
                </a:ln>
                <a:solidFill>
                  <a:schemeClr val="tx1"/>
                </a:solidFill>
                <a:effectLst/>
              </a:rPr>
              <a:t>sns.lineplot</a:t>
            </a:r>
            <a:r>
              <a:rPr kumimoji="0" lang="en-US" sz="2000" b="0" i="0" u="none" strike="noStrike" cap="none" normalizeH="0" baseline="0" dirty="0" smtClean="0">
                <a:ln>
                  <a:noFill/>
                </a:ln>
                <a:solidFill>
                  <a:schemeClr val="tx1"/>
                </a:solidFill>
                <a:effectLst/>
              </a:rPr>
              <a:t>(x="</a:t>
            </a:r>
            <a:r>
              <a:rPr kumimoji="0" lang="en-US" sz="2000" b="0" i="0" u="none" strike="noStrike" cap="none" normalizeH="0" baseline="0" dirty="0" err="1" smtClean="0">
                <a:ln>
                  <a:noFill/>
                </a:ln>
                <a:solidFill>
                  <a:schemeClr val="tx1"/>
                </a:solidFill>
                <a:effectLst/>
              </a:rPr>
              <a:t>timepoint</a:t>
            </a:r>
            <a:r>
              <a:rPr kumimoji="0" lang="en-US" sz="2000" b="0" i="0" u="none" strike="noStrike" cap="none" normalizeH="0" baseline="0" dirty="0" smtClean="0">
                <a:ln>
                  <a:noFill/>
                </a:ln>
                <a:solidFill>
                  <a:schemeClr val="tx1"/>
                </a:solidFill>
                <a:effectLst/>
              </a:rPr>
              <a:t>", y="signal", hue="event", style="region", markers=True, dashes=False, data=</a:t>
            </a:r>
            <a:r>
              <a:rPr kumimoji="0" lang="en-US" sz="2000" b="0" i="0" u="none" strike="noStrike" cap="none" normalizeH="0" baseline="0" dirty="0" err="1" smtClean="0">
                <a:ln>
                  <a:noFill/>
                </a:ln>
                <a:solidFill>
                  <a:schemeClr val="tx1"/>
                </a:solidFill>
                <a:effectLst/>
              </a:rPr>
              <a:t>fmri</a:t>
            </a:r>
            <a:r>
              <a:rPr kumimoji="0" lang="en-US" sz="2000" b="0" i="0" u="none" strike="noStrike" cap="none" normalizeH="0" baseline="0" dirty="0" smtClean="0">
                <a:ln>
                  <a:noFill/>
                </a:ln>
                <a:solidFill>
                  <a:schemeClr val="tx1"/>
                </a:solidFill>
                <a:effectLst/>
              </a:rPr>
              <a:t>)</a:t>
            </a:r>
          </a:p>
          <a:p>
            <a:pPr marL="0" lvl="0" indent="0" algn="just">
              <a:lnSpc>
                <a:spcPct val="100000"/>
              </a:lnSpc>
              <a:buNone/>
            </a:pPr>
            <a:endParaRPr kumimoji="0" lang="en-US" sz="2000" b="0" i="0" u="none" strike="noStrike" cap="none" normalizeH="0" baseline="0" dirty="0" smtClean="0">
              <a:ln>
                <a:noFill/>
              </a:ln>
              <a:solidFill>
                <a:schemeClr val="tx1"/>
              </a:solidFill>
              <a:effectLst/>
            </a:endParaRPr>
          </a:p>
          <a:p>
            <a:pPr marL="0" lvl="0" indent="0" algn="just">
              <a:lnSpc>
                <a:spcPct val="100000"/>
              </a:lnSpc>
              <a:buNone/>
            </a:pPr>
            <a:r>
              <a:rPr kumimoji="0" lang="en-US" sz="2000" b="0" i="0" u="none" strike="noStrike" cap="none" normalizeH="0" baseline="0" dirty="0" err="1" smtClean="0">
                <a:ln>
                  <a:noFill/>
                </a:ln>
                <a:solidFill>
                  <a:schemeClr val="tx1"/>
                </a:solidFill>
                <a:effectLst/>
              </a:rPr>
              <a:t>plt.xlabel</a:t>
            </a:r>
            <a:r>
              <a:rPr kumimoji="0" lang="en-US" sz="2000" b="0" i="0" u="none" strike="noStrike" cap="none" normalizeH="0" baseline="0" dirty="0" smtClean="0">
                <a:ln>
                  <a:noFill/>
                </a:ln>
                <a:solidFill>
                  <a:schemeClr val="tx1"/>
                </a:solidFill>
                <a:effectLst/>
              </a:rPr>
              <a:t>("</a:t>
            </a:r>
            <a:r>
              <a:rPr kumimoji="0" lang="en-US" sz="2000" b="0" i="0" u="none" strike="noStrike" cap="none" normalizeH="0" baseline="0" dirty="0" err="1" smtClean="0">
                <a:ln>
                  <a:noFill/>
                </a:ln>
                <a:solidFill>
                  <a:schemeClr val="tx1"/>
                </a:solidFill>
                <a:effectLst/>
              </a:rPr>
              <a:t>Timepoint</a:t>
            </a:r>
            <a:r>
              <a:rPr kumimoji="0" lang="en-US" sz="2000" b="0" i="0" u="none" strike="noStrike" cap="none" normalizeH="0" baseline="0" dirty="0" smtClean="0">
                <a:ln>
                  <a:noFill/>
                </a:ln>
                <a:solidFill>
                  <a:schemeClr val="tx1"/>
                </a:solidFill>
                <a:effectLst/>
              </a:rPr>
              <a:t>")</a:t>
            </a:r>
          </a:p>
          <a:p>
            <a:pPr marL="0" lvl="0" indent="0" algn="just">
              <a:lnSpc>
                <a:spcPct val="100000"/>
              </a:lnSpc>
              <a:buNone/>
            </a:pPr>
            <a:r>
              <a:rPr kumimoji="0" lang="en-US" sz="2000" b="0" i="0" u="none" strike="noStrike" cap="none" normalizeH="0" baseline="0" dirty="0" err="1" smtClean="0">
                <a:ln>
                  <a:noFill/>
                </a:ln>
                <a:solidFill>
                  <a:schemeClr val="tx1"/>
                </a:solidFill>
                <a:effectLst/>
              </a:rPr>
              <a:t>plt.ylabel</a:t>
            </a:r>
            <a:r>
              <a:rPr kumimoji="0" lang="en-US" sz="2000" b="0" i="0" u="none" strike="noStrike" cap="none" normalizeH="0" baseline="0" dirty="0" smtClean="0">
                <a:ln>
                  <a:noFill/>
                </a:ln>
                <a:solidFill>
                  <a:schemeClr val="tx1"/>
                </a:solidFill>
                <a:effectLst/>
              </a:rPr>
              <a:t>("Signal Intensity")</a:t>
            </a:r>
          </a:p>
          <a:p>
            <a:pPr marL="0" lvl="0" indent="0" algn="just">
              <a:lnSpc>
                <a:spcPct val="100000"/>
              </a:lnSpc>
              <a:buNone/>
            </a:pPr>
            <a:r>
              <a:rPr kumimoji="0" lang="en-US" sz="2000" b="0" i="0" u="none" strike="noStrike" cap="none" normalizeH="0" baseline="0" dirty="0" err="1" smtClean="0">
                <a:ln>
                  <a:noFill/>
                </a:ln>
                <a:solidFill>
                  <a:schemeClr val="tx1"/>
                </a:solidFill>
                <a:effectLst/>
              </a:rPr>
              <a:t>plt.title</a:t>
            </a:r>
            <a:r>
              <a:rPr kumimoji="0" lang="en-US" sz="2000" b="0" i="0" u="none" strike="noStrike" cap="none" normalizeH="0" baseline="0" dirty="0" smtClean="0">
                <a:ln>
                  <a:noFill/>
                </a:ln>
                <a:solidFill>
                  <a:schemeClr val="tx1"/>
                </a:solidFill>
                <a:effectLst/>
              </a:rPr>
              <a:t>("Changes in Signal Intensity over Time")</a:t>
            </a:r>
          </a:p>
          <a:p>
            <a:pPr marL="0" lvl="0" indent="0" algn="just">
              <a:lnSpc>
                <a:spcPct val="100000"/>
              </a:lnSpc>
              <a:buNone/>
            </a:pPr>
            <a:endParaRPr kumimoji="0" lang="en-US" sz="2000" b="0" i="0" u="none" strike="noStrike" cap="none" normalizeH="0" baseline="0" dirty="0" smtClean="0">
              <a:ln>
                <a:noFill/>
              </a:ln>
              <a:solidFill>
                <a:schemeClr val="tx1"/>
              </a:solidFill>
              <a:effectLst/>
            </a:endParaRPr>
          </a:p>
          <a:p>
            <a:pPr marL="0" lvl="0" indent="0" algn="just">
              <a:lnSpc>
                <a:spcPct val="100000"/>
              </a:lnSpc>
              <a:buNone/>
            </a:pPr>
            <a:r>
              <a:rPr kumimoji="0" lang="en-US" sz="2000" b="0" i="0" u="none" strike="noStrike" cap="none" normalizeH="0" baseline="0" dirty="0" err="1" smtClean="0">
                <a:ln>
                  <a:noFill/>
                </a:ln>
                <a:solidFill>
                  <a:schemeClr val="tx1"/>
                </a:solidFill>
                <a:effectLst/>
              </a:rPr>
              <a:t>plt.show</a:t>
            </a:r>
            <a:r>
              <a:rPr kumimoji="0" lang="en-US" sz="2000" b="0" i="0" u="none" strike="noStrike" cap="none" normalizeH="0" baseline="0" dirty="0" smtClean="0">
                <a:ln>
                  <a:noFill/>
                </a:ln>
                <a:solidFill>
                  <a:schemeClr val="tx1"/>
                </a:solidFill>
                <a:effectLst/>
              </a:rPr>
              <a:t>()</a:t>
            </a:r>
          </a:p>
        </p:txBody>
      </p:sp>
    </p:spTree>
    <p:extLst>
      <p:ext uri="{BB962C8B-B14F-4D97-AF65-F5344CB8AC3E}">
        <p14:creationId xmlns:p14="http://schemas.microsoft.com/office/powerpoint/2010/main" val="39948934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4096" y="1133341"/>
            <a:ext cx="10470524" cy="4893972"/>
          </a:xfrm>
        </p:spPr>
      </p:pic>
    </p:spTree>
    <p:extLst>
      <p:ext uri="{BB962C8B-B14F-4D97-AF65-F5344CB8AC3E}">
        <p14:creationId xmlns:p14="http://schemas.microsoft.com/office/powerpoint/2010/main" val="35221545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err="1"/>
              <a:t>Seaborn</a:t>
            </a:r>
            <a:r>
              <a:rPr lang="en-IN" b="1" dirty="0"/>
              <a:t> bar plots</a:t>
            </a:r>
            <a:br>
              <a:rPr lang="en-IN" b="1" dirty="0"/>
            </a:br>
            <a:endParaRPr lang="en-IN" dirty="0"/>
          </a:p>
        </p:txBody>
      </p:sp>
      <p:sp>
        <p:nvSpPr>
          <p:cNvPr id="4" name="Rectangle 1"/>
          <p:cNvSpPr>
            <a:spLocks noGrp="1" noChangeArrowheads="1"/>
          </p:cNvSpPr>
          <p:nvPr>
            <p:ph idx="1"/>
          </p:nvPr>
        </p:nvSpPr>
        <p:spPr bwMode="auto">
          <a:xfrm>
            <a:off x="322131" y="1299995"/>
            <a:ext cx="11315918" cy="5324535"/>
          </a:xfrm>
          <a:prstGeom prst="rect">
            <a:avLst/>
          </a:prstGeom>
          <a:solidFill>
            <a:srgbClr val="F7F7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05192D"/>
                </a:solidFill>
                <a:effectLst/>
                <a:latin typeface="Studio-Feixen-Sans"/>
              </a:rPr>
              <a:t>Bar plots are used to visualize the relationship between a categorical variable and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05192D"/>
                </a:solidFill>
                <a:effectLst/>
                <a:latin typeface="Studio-Feixen-Sans"/>
              </a:rPr>
              <a:t> a continuous variable. In a bar plot, each bar represents the mean or median (or any aggregation)</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05192D"/>
                </a:solidFill>
                <a:effectLst/>
                <a:latin typeface="Studio-Feixen-Sans"/>
              </a:rPr>
              <a:t> of the continuous variable for each category.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05192D"/>
                </a:solidFill>
                <a:effectLst/>
                <a:latin typeface="Studio-Feixen-Sans"/>
              </a:rPr>
              <a:t> In </a:t>
            </a:r>
            <a:r>
              <a:rPr kumimoji="0" lang="en-US" sz="2000" b="0" i="0" u="none" strike="noStrike" cap="none" normalizeH="0" baseline="0" dirty="0" err="1" smtClean="0">
                <a:ln>
                  <a:noFill/>
                </a:ln>
                <a:solidFill>
                  <a:srgbClr val="05192D"/>
                </a:solidFill>
                <a:effectLst/>
                <a:latin typeface="Studio-Feixen-Sans"/>
              </a:rPr>
              <a:t>Seaborn</a:t>
            </a:r>
            <a:r>
              <a:rPr kumimoji="0" lang="en-US" sz="2000" b="0" i="0" u="none" strike="noStrike" cap="none" normalizeH="0" baseline="0" dirty="0" smtClean="0">
                <a:ln>
                  <a:noFill/>
                </a:ln>
                <a:solidFill>
                  <a:srgbClr val="05192D"/>
                </a:solidFill>
                <a:effectLst/>
                <a:latin typeface="Studio-Feixen-Sans"/>
              </a:rPr>
              <a:t>, bar plots can be created using the </a:t>
            </a:r>
            <a:r>
              <a:rPr kumimoji="0" lang="en-US" sz="2000" b="0" i="0" u="none" strike="noStrike" cap="none" normalizeH="0" baseline="0" dirty="0" err="1" smtClean="0">
                <a:ln>
                  <a:noFill/>
                </a:ln>
                <a:solidFill>
                  <a:srgbClr val="05192D"/>
                </a:solidFill>
                <a:effectLst/>
                <a:latin typeface="Studio-Feixen-Sans"/>
              </a:rPr>
              <a:t>barplot</a:t>
            </a:r>
            <a:r>
              <a:rPr kumimoji="0" lang="en-US" sz="2000" b="0" i="0" u="none" strike="noStrike" cap="none" normalizeH="0" baseline="0" dirty="0" smtClean="0">
                <a:ln>
                  <a:noFill/>
                </a:ln>
                <a:solidFill>
                  <a:srgbClr val="05192D"/>
                </a:solidFill>
                <a:effectLst/>
                <a:latin typeface="Studio-Feixen-Sans"/>
              </a:rPr>
              <a:t>() function.</a:t>
            </a:r>
          </a:p>
          <a:p>
            <a:pPr marL="0" marR="0" lvl="0" indent="0" algn="l" defTabSz="914400" rtl="0" eaLnBrk="0" fontAlgn="base" latinLnBrk="0" hangingPunct="0">
              <a:lnSpc>
                <a:spcPct val="100000"/>
              </a:lnSpc>
              <a:spcBef>
                <a:spcPct val="0"/>
              </a:spcBef>
              <a:spcAft>
                <a:spcPct val="0"/>
              </a:spcAft>
              <a:buClrTx/>
              <a:buSzTx/>
              <a:buFontTx/>
              <a:buNone/>
              <a:tabLst/>
            </a:pPr>
            <a:endParaRPr lang="en-US" sz="2000" dirty="0">
              <a:solidFill>
                <a:srgbClr val="05192D"/>
              </a:solidFill>
              <a:latin typeface="Studio-Feixen-Sans"/>
            </a:endParaRPr>
          </a:p>
          <a:p>
            <a:pPr marL="0" lvl="0" indent="0">
              <a:lnSpc>
                <a:spcPct val="100000"/>
              </a:lnSpc>
              <a:buNone/>
            </a:pPr>
            <a:r>
              <a:rPr lang="en-US" sz="2000" dirty="0" smtClean="0">
                <a:solidFill>
                  <a:srgbClr val="05192D"/>
                </a:solidFill>
                <a:latin typeface="Studio-Feixen-Sans"/>
              </a:rPr>
              <a:t>import </a:t>
            </a:r>
            <a:r>
              <a:rPr lang="en-US" sz="2000" dirty="0" err="1" smtClean="0">
                <a:solidFill>
                  <a:srgbClr val="05192D"/>
                </a:solidFill>
                <a:latin typeface="Studio-Feixen-Sans"/>
              </a:rPr>
              <a:t>seaborn</a:t>
            </a:r>
            <a:r>
              <a:rPr lang="en-US" sz="2000" dirty="0" smtClean="0">
                <a:solidFill>
                  <a:srgbClr val="05192D"/>
                </a:solidFill>
                <a:latin typeface="Studio-Feixen-Sans"/>
              </a:rPr>
              <a:t> as </a:t>
            </a:r>
            <a:r>
              <a:rPr lang="en-US" sz="2000" dirty="0" err="1" smtClean="0">
                <a:solidFill>
                  <a:srgbClr val="05192D"/>
                </a:solidFill>
                <a:latin typeface="Studio-Feixen-Sans"/>
              </a:rPr>
              <a:t>sns</a:t>
            </a:r>
            <a:endParaRPr lang="en-US" sz="2000" dirty="0" smtClean="0">
              <a:solidFill>
                <a:srgbClr val="05192D"/>
              </a:solidFill>
              <a:latin typeface="Studio-Feixen-Sans"/>
            </a:endParaRPr>
          </a:p>
          <a:p>
            <a:pPr marL="0" lvl="0" indent="0">
              <a:lnSpc>
                <a:spcPct val="100000"/>
              </a:lnSpc>
              <a:buNone/>
            </a:pPr>
            <a:r>
              <a:rPr lang="en-US" sz="2000" dirty="0" smtClean="0">
                <a:solidFill>
                  <a:srgbClr val="05192D"/>
                </a:solidFill>
                <a:latin typeface="Studio-Feixen-Sans"/>
              </a:rPr>
              <a:t>import </a:t>
            </a:r>
            <a:r>
              <a:rPr lang="en-US" sz="2000" dirty="0" err="1" smtClean="0">
                <a:solidFill>
                  <a:srgbClr val="05192D"/>
                </a:solidFill>
                <a:latin typeface="Studio-Feixen-Sans"/>
              </a:rPr>
              <a:t>matplotlib.pyplot</a:t>
            </a:r>
            <a:r>
              <a:rPr lang="en-US" sz="2000" dirty="0" smtClean="0">
                <a:solidFill>
                  <a:srgbClr val="05192D"/>
                </a:solidFill>
                <a:latin typeface="Studio-Feixen-Sans"/>
              </a:rPr>
              <a:t> as </a:t>
            </a:r>
            <a:r>
              <a:rPr lang="en-US" sz="2000" dirty="0" err="1" smtClean="0">
                <a:solidFill>
                  <a:srgbClr val="05192D"/>
                </a:solidFill>
                <a:latin typeface="Studio-Feixen-Sans"/>
              </a:rPr>
              <a:t>plt</a:t>
            </a:r>
            <a:endParaRPr lang="en-US" sz="2000" dirty="0" smtClean="0">
              <a:solidFill>
                <a:srgbClr val="05192D"/>
              </a:solidFill>
              <a:latin typeface="Studio-Feixen-Sans"/>
            </a:endParaRPr>
          </a:p>
          <a:p>
            <a:pPr marL="0" lvl="0" indent="0">
              <a:lnSpc>
                <a:spcPct val="100000"/>
              </a:lnSpc>
              <a:buNone/>
            </a:pPr>
            <a:r>
              <a:rPr lang="en-US" sz="2000" dirty="0" smtClean="0">
                <a:solidFill>
                  <a:srgbClr val="05192D"/>
                </a:solidFill>
                <a:latin typeface="Studio-Feixen-Sans"/>
              </a:rPr>
              <a:t>titanic = </a:t>
            </a:r>
            <a:r>
              <a:rPr lang="en-US" sz="2000" dirty="0" err="1" smtClean="0">
                <a:solidFill>
                  <a:srgbClr val="05192D"/>
                </a:solidFill>
                <a:latin typeface="Studio-Feixen-Sans"/>
              </a:rPr>
              <a:t>sns.load_dataset</a:t>
            </a:r>
            <a:r>
              <a:rPr lang="en-US" sz="2000" dirty="0" smtClean="0">
                <a:solidFill>
                  <a:srgbClr val="05192D"/>
                </a:solidFill>
                <a:latin typeface="Studio-Feixen-Sans"/>
              </a:rPr>
              <a:t>("titanic")</a:t>
            </a:r>
          </a:p>
          <a:p>
            <a:pPr marL="0" lvl="0" indent="0">
              <a:lnSpc>
                <a:spcPct val="100000"/>
              </a:lnSpc>
              <a:buNone/>
            </a:pPr>
            <a:r>
              <a:rPr lang="en-US" sz="2000" dirty="0" err="1" smtClean="0">
                <a:solidFill>
                  <a:srgbClr val="05192D"/>
                </a:solidFill>
                <a:latin typeface="Studio-Feixen-Sans"/>
              </a:rPr>
              <a:t>sns.barplot</a:t>
            </a:r>
            <a:r>
              <a:rPr lang="en-US" sz="2000" dirty="0" smtClean="0">
                <a:solidFill>
                  <a:srgbClr val="05192D"/>
                </a:solidFill>
                <a:latin typeface="Studio-Feixen-Sans"/>
              </a:rPr>
              <a:t>(x="class", y="fare", hue="sex", ci=None, palette="muted", data=titanic)</a:t>
            </a:r>
          </a:p>
          <a:p>
            <a:pPr marL="0" lvl="0" indent="0">
              <a:lnSpc>
                <a:spcPct val="100000"/>
              </a:lnSpc>
              <a:buNone/>
            </a:pPr>
            <a:r>
              <a:rPr lang="en-US" sz="2000" dirty="0" err="1" smtClean="0">
                <a:solidFill>
                  <a:srgbClr val="05192D"/>
                </a:solidFill>
                <a:latin typeface="Studio-Feixen-Sans"/>
              </a:rPr>
              <a:t>plt.xlabel</a:t>
            </a:r>
            <a:r>
              <a:rPr lang="en-US" sz="2000" dirty="0" smtClean="0">
                <a:solidFill>
                  <a:srgbClr val="05192D"/>
                </a:solidFill>
                <a:latin typeface="Studio-Feixen-Sans"/>
              </a:rPr>
              <a:t>("Class")</a:t>
            </a:r>
          </a:p>
          <a:p>
            <a:pPr marL="0" lvl="0" indent="0">
              <a:lnSpc>
                <a:spcPct val="100000"/>
              </a:lnSpc>
              <a:buNone/>
            </a:pPr>
            <a:endParaRPr lang="en-US" sz="2000" dirty="0" smtClean="0">
              <a:solidFill>
                <a:srgbClr val="05192D"/>
              </a:solidFill>
              <a:latin typeface="Studio-Feixen-Sans"/>
            </a:endParaRPr>
          </a:p>
          <a:p>
            <a:pPr marL="0" lvl="0" indent="0">
              <a:lnSpc>
                <a:spcPct val="100000"/>
              </a:lnSpc>
              <a:buNone/>
            </a:pPr>
            <a:r>
              <a:rPr lang="en-US" sz="2000" dirty="0" err="1" smtClean="0">
                <a:solidFill>
                  <a:srgbClr val="05192D"/>
                </a:solidFill>
                <a:latin typeface="Studio-Feixen-Sans"/>
              </a:rPr>
              <a:t>plt.ylabel</a:t>
            </a:r>
            <a:r>
              <a:rPr lang="en-US" sz="2000" dirty="0" smtClean="0">
                <a:solidFill>
                  <a:srgbClr val="05192D"/>
                </a:solidFill>
                <a:latin typeface="Studio-Feixen-Sans"/>
              </a:rPr>
              <a:t>("Fare")</a:t>
            </a:r>
          </a:p>
          <a:p>
            <a:pPr marL="0" lvl="0" indent="0">
              <a:lnSpc>
                <a:spcPct val="100000"/>
              </a:lnSpc>
              <a:buNone/>
            </a:pPr>
            <a:endParaRPr lang="en-US" sz="2000" dirty="0" smtClean="0">
              <a:solidFill>
                <a:srgbClr val="05192D"/>
              </a:solidFill>
              <a:latin typeface="Studio-Feixen-Sans"/>
            </a:endParaRPr>
          </a:p>
          <a:p>
            <a:pPr marL="0" lvl="0" indent="0">
              <a:lnSpc>
                <a:spcPct val="100000"/>
              </a:lnSpc>
              <a:buNone/>
            </a:pPr>
            <a:r>
              <a:rPr lang="en-US" sz="2000" dirty="0" err="1" smtClean="0">
                <a:solidFill>
                  <a:srgbClr val="05192D"/>
                </a:solidFill>
                <a:latin typeface="Studio-Feixen-Sans"/>
              </a:rPr>
              <a:t>plt.title</a:t>
            </a:r>
            <a:r>
              <a:rPr lang="en-US" sz="2000" dirty="0" smtClean="0">
                <a:solidFill>
                  <a:srgbClr val="05192D"/>
                </a:solidFill>
                <a:latin typeface="Studio-Feixen-Sans"/>
              </a:rPr>
              <a:t>("Average Fare by Class and Gender on the Titanic")</a:t>
            </a:r>
          </a:p>
          <a:p>
            <a:pPr marL="0" lvl="0" indent="0">
              <a:lnSpc>
                <a:spcPct val="100000"/>
              </a:lnSpc>
              <a:buNone/>
            </a:pPr>
            <a:endParaRPr lang="en-US" sz="2000" dirty="0" smtClean="0">
              <a:solidFill>
                <a:srgbClr val="05192D"/>
              </a:solidFill>
              <a:latin typeface="Studio-Feixen-Sans"/>
            </a:endParaRPr>
          </a:p>
          <a:p>
            <a:pPr marL="0" lvl="0" indent="0">
              <a:lnSpc>
                <a:spcPct val="100000"/>
              </a:lnSpc>
              <a:buNone/>
            </a:pPr>
            <a:r>
              <a:rPr lang="en-US" sz="2000" dirty="0" err="1" smtClean="0">
                <a:solidFill>
                  <a:srgbClr val="05192D"/>
                </a:solidFill>
                <a:latin typeface="Studio-Feixen-Sans"/>
              </a:rPr>
              <a:t>plt.show</a:t>
            </a:r>
            <a:r>
              <a:rPr lang="en-US" sz="2000" dirty="0" smtClean="0">
                <a:solidFill>
                  <a:srgbClr val="05192D"/>
                </a:solidFill>
                <a:latin typeface="Studio-Feixen-Sans"/>
              </a:rPr>
              <a:t>()</a:t>
            </a:r>
            <a:endParaRPr lang="en-US" sz="2000" dirty="0">
              <a:solidFill>
                <a:srgbClr val="05192D"/>
              </a:solidFill>
              <a:latin typeface="Studio-Feixen-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rPr>
              <a:t> </a:t>
            </a:r>
          </a:p>
        </p:txBody>
      </p:sp>
    </p:spTree>
    <p:extLst>
      <p:ext uri="{BB962C8B-B14F-4D97-AF65-F5344CB8AC3E}">
        <p14:creationId xmlns:p14="http://schemas.microsoft.com/office/powerpoint/2010/main" val="7402841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11369" y="399244"/>
            <a:ext cx="10998557" cy="5885645"/>
          </a:xfrm>
        </p:spPr>
      </p:pic>
    </p:spTree>
    <p:extLst>
      <p:ext uri="{BB962C8B-B14F-4D97-AF65-F5344CB8AC3E}">
        <p14:creationId xmlns:p14="http://schemas.microsoft.com/office/powerpoint/2010/main" val="36530827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err="1"/>
              <a:t>Seaborn</a:t>
            </a:r>
            <a:r>
              <a:rPr lang="en-IN" b="1" dirty="0"/>
              <a:t> histograms</a:t>
            </a:r>
            <a:br>
              <a:rPr lang="en-IN" b="1" dirty="0"/>
            </a:br>
            <a:endParaRPr lang="en-IN" dirty="0"/>
          </a:p>
        </p:txBody>
      </p:sp>
      <p:sp>
        <p:nvSpPr>
          <p:cNvPr id="4" name="Rectangle 1"/>
          <p:cNvSpPr>
            <a:spLocks noGrp="1" noChangeArrowheads="1"/>
          </p:cNvSpPr>
          <p:nvPr>
            <p:ph idx="1"/>
          </p:nvPr>
        </p:nvSpPr>
        <p:spPr bwMode="auto">
          <a:xfrm>
            <a:off x="306594" y="1427199"/>
            <a:ext cx="11578811" cy="4401205"/>
          </a:xfrm>
          <a:prstGeom prst="rect">
            <a:avLst/>
          </a:prstGeom>
          <a:solidFill>
            <a:srgbClr val="F7F7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05192D"/>
                </a:solidFill>
                <a:effectLst/>
                <a:latin typeface="Studio-Feixen-Sans"/>
              </a:rPr>
              <a:t>Histograms visualize the distribution of a continuous variable. In a histogram, the data is divided into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05192D"/>
                </a:solidFill>
                <a:effectLst/>
                <a:latin typeface="Studio-Feixen-Sans"/>
              </a:rPr>
              <a:t>bins and the height of each bin represents the frequency or count of data points within that bin.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05192D"/>
                </a:solidFill>
                <a:effectLst/>
                <a:latin typeface="Studio-Feixen-Sans"/>
              </a:rPr>
              <a:t>In </a:t>
            </a:r>
            <a:r>
              <a:rPr kumimoji="0" lang="en-US" sz="2000" b="0" i="0" u="none" strike="noStrike" cap="none" normalizeH="0" baseline="0" dirty="0" err="1" smtClean="0">
                <a:ln>
                  <a:noFill/>
                </a:ln>
                <a:solidFill>
                  <a:srgbClr val="05192D"/>
                </a:solidFill>
                <a:effectLst/>
                <a:latin typeface="Studio-Feixen-Sans"/>
              </a:rPr>
              <a:t>Seaborn</a:t>
            </a:r>
            <a:r>
              <a:rPr kumimoji="0" lang="en-US" sz="2000" b="0" i="0" u="none" strike="noStrike" cap="none" normalizeH="0" baseline="0" dirty="0" smtClean="0">
                <a:ln>
                  <a:noFill/>
                </a:ln>
                <a:solidFill>
                  <a:srgbClr val="05192D"/>
                </a:solidFill>
                <a:effectLst/>
                <a:latin typeface="Studio-Feixen-Sans"/>
              </a:rPr>
              <a:t>, histograms can be created using the </a:t>
            </a:r>
            <a:r>
              <a:rPr kumimoji="0" lang="en-US" sz="2000" b="0" i="0" u="none" strike="noStrike" cap="none" normalizeH="0" baseline="0" dirty="0" err="1" smtClean="0">
                <a:ln>
                  <a:noFill/>
                </a:ln>
                <a:solidFill>
                  <a:srgbClr val="05192D"/>
                </a:solidFill>
                <a:effectLst/>
                <a:latin typeface="Studio-Feixen-Sans"/>
              </a:rPr>
              <a:t>histplot</a:t>
            </a:r>
            <a:r>
              <a:rPr kumimoji="0" lang="en-US" sz="2000" b="0" i="0" u="none" strike="noStrike" cap="none" normalizeH="0" baseline="0" dirty="0" smtClean="0">
                <a:ln>
                  <a:noFill/>
                </a:ln>
                <a:solidFill>
                  <a:srgbClr val="05192D"/>
                </a:solidFill>
                <a:effectLst/>
                <a:latin typeface="Studio-Feixen-Sans"/>
              </a:rPr>
              <a:t>() function.</a:t>
            </a:r>
            <a:r>
              <a:rPr kumimoji="0" lang="en-US" sz="2000" b="0" i="0" u="none" strike="noStrike" cap="none" normalizeH="0" baseline="0" dirty="0" smtClean="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sz="2000" dirty="0"/>
          </a:p>
          <a:p>
            <a:pPr marL="0" lvl="0" indent="0">
              <a:lnSpc>
                <a:spcPct val="100000"/>
              </a:lnSpc>
              <a:buNone/>
            </a:pPr>
            <a:r>
              <a:rPr kumimoji="0" lang="en-US" sz="2000" b="0" i="0" u="none" strike="noStrike" cap="none" normalizeH="0" baseline="0" dirty="0" smtClean="0">
                <a:ln>
                  <a:noFill/>
                </a:ln>
                <a:solidFill>
                  <a:schemeClr val="tx1"/>
                </a:solidFill>
                <a:effectLst/>
              </a:rPr>
              <a:t>import </a:t>
            </a:r>
            <a:r>
              <a:rPr kumimoji="0" lang="en-US" sz="2000" b="0" i="0" u="none" strike="noStrike" cap="none" normalizeH="0" baseline="0" dirty="0" err="1" smtClean="0">
                <a:ln>
                  <a:noFill/>
                </a:ln>
                <a:solidFill>
                  <a:schemeClr val="tx1"/>
                </a:solidFill>
                <a:effectLst/>
              </a:rPr>
              <a:t>seaborn</a:t>
            </a:r>
            <a:r>
              <a:rPr kumimoji="0" lang="en-US" sz="2000" b="0" i="0" u="none" strike="noStrike" cap="none" normalizeH="0" baseline="0" dirty="0" smtClean="0">
                <a:ln>
                  <a:noFill/>
                </a:ln>
                <a:solidFill>
                  <a:schemeClr val="tx1"/>
                </a:solidFill>
                <a:effectLst/>
              </a:rPr>
              <a:t> as </a:t>
            </a:r>
            <a:r>
              <a:rPr kumimoji="0" lang="en-US" sz="2000" b="0" i="0" u="none" strike="noStrike" cap="none" normalizeH="0" baseline="0" dirty="0" err="1" smtClean="0">
                <a:ln>
                  <a:noFill/>
                </a:ln>
                <a:solidFill>
                  <a:schemeClr val="tx1"/>
                </a:solidFill>
                <a:effectLst/>
              </a:rPr>
              <a:t>sns</a:t>
            </a:r>
            <a:endParaRPr kumimoji="0" lang="en-US" sz="2000" b="0" i="0" u="none" strike="noStrike" cap="none" normalizeH="0" baseline="0" dirty="0" smtClean="0">
              <a:ln>
                <a:noFill/>
              </a:ln>
              <a:solidFill>
                <a:schemeClr val="tx1"/>
              </a:solidFill>
              <a:effectLst/>
            </a:endParaRPr>
          </a:p>
          <a:p>
            <a:pPr marL="0" lvl="0" indent="0">
              <a:lnSpc>
                <a:spcPct val="100000"/>
              </a:lnSpc>
              <a:buNone/>
            </a:pPr>
            <a:r>
              <a:rPr kumimoji="0" lang="en-US" sz="2000" b="0" i="0" u="none" strike="noStrike" cap="none" normalizeH="0" baseline="0" dirty="0" smtClean="0">
                <a:ln>
                  <a:noFill/>
                </a:ln>
                <a:solidFill>
                  <a:schemeClr val="tx1"/>
                </a:solidFill>
                <a:effectLst/>
              </a:rPr>
              <a:t>import </a:t>
            </a:r>
            <a:r>
              <a:rPr kumimoji="0" lang="en-US" sz="2000" b="0" i="0" u="none" strike="noStrike" cap="none" normalizeH="0" baseline="0" dirty="0" err="1" smtClean="0">
                <a:ln>
                  <a:noFill/>
                </a:ln>
                <a:solidFill>
                  <a:schemeClr val="tx1"/>
                </a:solidFill>
                <a:effectLst/>
              </a:rPr>
              <a:t>matplotlib.pyplot</a:t>
            </a:r>
            <a:r>
              <a:rPr kumimoji="0" lang="en-US" sz="2000" b="0" i="0" u="none" strike="noStrike" cap="none" normalizeH="0" baseline="0" dirty="0" smtClean="0">
                <a:ln>
                  <a:noFill/>
                </a:ln>
                <a:solidFill>
                  <a:schemeClr val="tx1"/>
                </a:solidFill>
                <a:effectLst/>
              </a:rPr>
              <a:t> as </a:t>
            </a:r>
            <a:r>
              <a:rPr kumimoji="0" lang="en-US" sz="2000" b="0" i="0" u="none" strike="noStrike" cap="none" normalizeH="0" baseline="0" dirty="0" err="1" smtClean="0">
                <a:ln>
                  <a:noFill/>
                </a:ln>
                <a:solidFill>
                  <a:schemeClr val="tx1"/>
                </a:solidFill>
                <a:effectLst/>
              </a:rPr>
              <a:t>plt</a:t>
            </a:r>
            <a:endParaRPr kumimoji="0" lang="en-US" sz="2000" b="0" i="0" u="none" strike="noStrike" cap="none" normalizeH="0" baseline="0" dirty="0" smtClean="0">
              <a:ln>
                <a:noFill/>
              </a:ln>
              <a:solidFill>
                <a:schemeClr val="tx1"/>
              </a:solidFill>
              <a:effectLst/>
            </a:endParaRPr>
          </a:p>
          <a:p>
            <a:pPr marL="0" lvl="0" indent="0">
              <a:lnSpc>
                <a:spcPct val="100000"/>
              </a:lnSpc>
              <a:buNone/>
            </a:pPr>
            <a:r>
              <a:rPr kumimoji="0" lang="en-US" sz="2000" b="0" i="0" u="none" strike="noStrike" cap="none" normalizeH="0" baseline="0" dirty="0" smtClean="0">
                <a:ln>
                  <a:noFill/>
                </a:ln>
                <a:solidFill>
                  <a:schemeClr val="tx1"/>
                </a:solidFill>
                <a:effectLst/>
              </a:rPr>
              <a:t>iris = </a:t>
            </a:r>
            <a:r>
              <a:rPr kumimoji="0" lang="en-US" sz="2000" b="0" i="0" u="none" strike="noStrike" cap="none" normalizeH="0" baseline="0" dirty="0" err="1" smtClean="0">
                <a:ln>
                  <a:noFill/>
                </a:ln>
                <a:solidFill>
                  <a:schemeClr val="tx1"/>
                </a:solidFill>
                <a:effectLst/>
              </a:rPr>
              <a:t>sns.load_dataset</a:t>
            </a:r>
            <a:r>
              <a:rPr kumimoji="0" lang="en-US" sz="2000" b="0" i="0" u="none" strike="noStrike" cap="none" normalizeH="0" baseline="0" dirty="0" smtClean="0">
                <a:ln>
                  <a:noFill/>
                </a:ln>
                <a:solidFill>
                  <a:schemeClr val="tx1"/>
                </a:solidFill>
                <a:effectLst/>
              </a:rPr>
              <a:t>("iris")</a:t>
            </a:r>
          </a:p>
          <a:p>
            <a:pPr marL="0" lvl="0" indent="0">
              <a:lnSpc>
                <a:spcPct val="100000"/>
              </a:lnSpc>
              <a:buNone/>
            </a:pPr>
            <a:r>
              <a:rPr kumimoji="0" lang="en-US" sz="2000" b="0" i="0" u="none" strike="noStrike" cap="none" normalizeH="0" baseline="0" dirty="0" err="1" smtClean="0">
                <a:ln>
                  <a:noFill/>
                </a:ln>
                <a:solidFill>
                  <a:schemeClr val="tx1"/>
                </a:solidFill>
                <a:effectLst/>
              </a:rPr>
              <a:t>sns.histplot</a:t>
            </a:r>
            <a:r>
              <a:rPr kumimoji="0" lang="en-US" sz="2000" b="0" i="0" u="none" strike="noStrike" cap="none" normalizeH="0" baseline="0" dirty="0" smtClean="0">
                <a:ln>
                  <a:noFill/>
                </a:ln>
                <a:solidFill>
                  <a:schemeClr val="tx1"/>
                </a:solidFill>
                <a:effectLst/>
              </a:rPr>
              <a:t>(data=iris, x="</a:t>
            </a:r>
            <a:r>
              <a:rPr kumimoji="0" lang="en-US" sz="2000" b="0" i="0" u="none" strike="noStrike" cap="none" normalizeH="0" baseline="0" dirty="0" err="1" smtClean="0">
                <a:ln>
                  <a:noFill/>
                </a:ln>
                <a:solidFill>
                  <a:schemeClr val="tx1"/>
                </a:solidFill>
                <a:effectLst/>
              </a:rPr>
              <a:t>petal_length</a:t>
            </a:r>
            <a:r>
              <a:rPr kumimoji="0" lang="en-US" sz="2000" b="0" i="0" u="none" strike="noStrike" cap="none" normalizeH="0" baseline="0" dirty="0" smtClean="0">
                <a:ln>
                  <a:noFill/>
                </a:ln>
                <a:solidFill>
                  <a:schemeClr val="tx1"/>
                </a:solidFill>
                <a:effectLst/>
              </a:rPr>
              <a:t>", bins=20, </a:t>
            </a:r>
            <a:r>
              <a:rPr kumimoji="0" lang="en-US" sz="2000" b="0" i="0" u="none" strike="noStrike" cap="none" normalizeH="0" baseline="0" dirty="0" err="1" smtClean="0">
                <a:ln>
                  <a:noFill/>
                </a:ln>
                <a:solidFill>
                  <a:schemeClr val="tx1"/>
                </a:solidFill>
                <a:effectLst/>
              </a:rPr>
              <a:t>kde</a:t>
            </a:r>
            <a:r>
              <a:rPr kumimoji="0" lang="en-US" sz="2000" b="0" i="0" u="none" strike="noStrike" cap="none" normalizeH="0" baseline="0" dirty="0" smtClean="0">
                <a:ln>
                  <a:noFill/>
                </a:ln>
                <a:solidFill>
                  <a:schemeClr val="tx1"/>
                </a:solidFill>
                <a:effectLst/>
              </a:rPr>
              <a:t>=True, color="green")</a:t>
            </a:r>
          </a:p>
          <a:p>
            <a:pPr marL="0" lvl="0" indent="0">
              <a:lnSpc>
                <a:spcPct val="100000"/>
              </a:lnSpc>
              <a:buNone/>
            </a:pPr>
            <a:r>
              <a:rPr kumimoji="0" lang="en-US" sz="2000" b="0" i="0" u="none" strike="noStrike" cap="none" normalizeH="0" baseline="0" dirty="0" err="1" smtClean="0">
                <a:ln>
                  <a:noFill/>
                </a:ln>
                <a:solidFill>
                  <a:schemeClr val="tx1"/>
                </a:solidFill>
                <a:effectLst/>
              </a:rPr>
              <a:t>plt.xlabel</a:t>
            </a:r>
            <a:r>
              <a:rPr kumimoji="0" lang="en-US" sz="2000" b="0" i="0" u="none" strike="noStrike" cap="none" normalizeH="0" baseline="0" dirty="0" smtClean="0">
                <a:ln>
                  <a:noFill/>
                </a:ln>
                <a:solidFill>
                  <a:schemeClr val="tx1"/>
                </a:solidFill>
                <a:effectLst/>
              </a:rPr>
              <a:t>("Petal Length (cm)")</a:t>
            </a:r>
          </a:p>
          <a:p>
            <a:pPr marL="0" lvl="0" indent="0">
              <a:lnSpc>
                <a:spcPct val="100000"/>
              </a:lnSpc>
              <a:buNone/>
            </a:pPr>
            <a:endParaRPr kumimoji="0" lang="en-US" sz="2000" b="0" i="0" u="none" strike="noStrike" cap="none" normalizeH="0" baseline="0" dirty="0" smtClean="0">
              <a:ln>
                <a:noFill/>
              </a:ln>
              <a:solidFill>
                <a:schemeClr val="tx1"/>
              </a:solidFill>
              <a:effectLst/>
            </a:endParaRPr>
          </a:p>
          <a:p>
            <a:pPr marL="0" lvl="0" indent="0">
              <a:lnSpc>
                <a:spcPct val="100000"/>
              </a:lnSpc>
              <a:buNone/>
            </a:pPr>
            <a:r>
              <a:rPr kumimoji="0" lang="en-US" sz="2000" b="0" i="0" u="none" strike="noStrike" cap="none" normalizeH="0" baseline="0" dirty="0" err="1" smtClean="0">
                <a:ln>
                  <a:noFill/>
                </a:ln>
                <a:solidFill>
                  <a:schemeClr val="tx1"/>
                </a:solidFill>
                <a:effectLst/>
              </a:rPr>
              <a:t>plt.ylabel</a:t>
            </a:r>
            <a:r>
              <a:rPr kumimoji="0" lang="en-US" sz="2000" b="0" i="0" u="none" strike="noStrike" cap="none" normalizeH="0" baseline="0" dirty="0" smtClean="0">
                <a:ln>
                  <a:noFill/>
                </a:ln>
                <a:solidFill>
                  <a:schemeClr val="tx1"/>
                </a:solidFill>
                <a:effectLst/>
              </a:rPr>
              <a:t>("Frequency")</a:t>
            </a:r>
          </a:p>
          <a:p>
            <a:pPr marL="0" lvl="0" indent="0">
              <a:lnSpc>
                <a:spcPct val="100000"/>
              </a:lnSpc>
              <a:buNone/>
            </a:pPr>
            <a:endParaRPr kumimoji="0" lang="en-US" sz="2000" b="0" i="0" u="none" strike="noStrike" cap="none" normalizeH="0" baseline="0" dirty="0" smtClean="0">
              <a:ln>
                <a:noFill/>
              </a:ln>
              <a:solidFill>
                <a:schemeClr val="tx1"/>
              </a:solidFill>
              <a:effectLst/>
            </a:endParaRPr>
          </a:p>
          <a:p>
            <a:pPr marL="0" lvl="0" indent="0">
              <a:lnSpc>
                <a:spcPct val="100000"/>
              </a:lnSpc>
              <a:buNone/>
            </a:pPr>
            <a:r>
              <a:rPr kumimoji="0" lang="en-US" sz="2000" b="0" i="0" u="none" strike="noStrike" cap="none" normalizeH="0" baseline="0" dirty="0" err="1" smtClean="0">
                <a:ln>
                  <a:noFill/>
                </a:ln>
                <a:solidFill>
                  <a:schemeClr val="tx1"/>
                </a:solidFill>
                <a:effectLst/>
              </a:rPr>
              <a:t>plt.title</a:t>
            </a:r>
            <a:r>
              <a:rPr kumimoji="0" lang="en-US" sz="2000" b="0" i="0" u="none" strike="noStrike" cap="none" normalizeH="0" baseline="0" dirty="0" smtClean="0">
                <a:ln>
                  <a:noFill/>
                </a:ln>
                <a:solidFill>
                  <a:schemeClr val="tx1"/>
                </a:solidFill>
                <a:effectLst/>
              </a:rPr>
              <a:t>("Distribution of Petal Lengths in Iris Flowers")</a:t>
            </a:r>
          </a:p>
          <a:p>
            <a:pPr marL="0" lvl="0" indent="0">
              <a:lnSpc>
                <a:spcPct val="100000"/>
              </a:lnSpc>
              <a:buNone/>
            </a:pPr>
            <a:r>
              <a:rPr kumimoji="0" lang="en-US" sz="2000" b="0" i="0" u="none" strike="noStrike" cap="none" normalizeH="0" baseline="0" dirty="0" err="1" smtClean="0">
                <a:ln>
                  <a:noFill/>
                </a:ln>
                <a:solidFill>
                  <a:schemeClr val="tx1"/>
                </a:solidFill>
                <a:effectLst/>
              </a:rPr>
              <a:t>plt.show</a:t>
            </a:r>
            <a:r>
              <a:rPr kumimoji="0" lang="en-US" sz="2000" b="0" i="0" u="none" strike="noStrike" cap="none" normalizeH="0" baseline="0" dirty="0" smtClean="0">
                <a:ln>
                  <a:noFill/>
                </a:ln>
                <a:solidFill>
                  <a:schemeClr val="tx1"/>
                </a:solidFill>
                <a:effectLst/>
              </a:rPr>
              <a:t>()</a:t>
            </a:r>
          </a:p>
        </p:txBody>
      </p:sp>
    </p:spTree>
    <p:extLst>
      <p:ext uri="{BB962C8B-B14F-4D97-AF65-F5344CB8AC3E}">
        <p14:creationId xmlns:p14="http://schemas.microsoft.com/office/powerpoint/2010/main" val="1343435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6214" y="631065"/>
            <a:ext cx="10715224" cy="5370490"/>
          </a:xfrm>
        </p:spPr>
      </p:pic>
    </p:spTree>
    <p:extLst>
      <p:ext uri="{BB962C8B-B14F-4D97-AF65-F5344CB8AC3E}">
        <p14:creationId xmlns:p14="http://schemas.microsoft.com/office/powerpoint/2010/main" val="2928019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err="1"/>
              <a:t>Seaborn</a:t>
            </a:r>
            <a:r>
              <a:rPr lang="en-IN" b="1" dirty="0"/>
              <a:t> density plots</a:t>
            </a:r>
            <a:br>
              <a:rPr lang="en-IN" b="1" dirty="0"/>
            </a:br>
            <a:endParaRPr lang="en-IN" dirty="0"/>
          </a:p>
        </p:txBody>
      </p:sp>
      <p:sp>
        <p:nvSpPr>
          <p:cNvPr id="4" name="Rectangle 1"/>
          <p:cNvSpPr>
            <a:spLocks noGrp="1" noChangeArrowheads="1"/>
          </p:cNvSpPr>
          <p:nvPr>
            <p:ph idx="1"/>
          </p:nvPr>
        </p:nvSpPr>
        <p:spPr bwMode="auto">
          <a:xfrm>
            <a:off x="722290" y="1367043"/>
            <a:ext cx="8623852" cy="5016758"/>
          </a:xfrm>
          <a:prstGeom prst="rect">
            <a:avLst/>
          </a:prstGeom>
          <a:solidFill>
            <a:srgbClr val="F7F7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05192D"/>
                </a:solidFill>
                <a:effectLst/>
                <a:latin typeface="Studio-Feixen-Sans"/>
              </a:rPr>
              <a:t>Density plots, also known as kernel density plots, are a type of data visualization that display the distribution of a continuous variable.</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05192D"/>
                </a:solidFill>
                <a:effectLst/>
                <a:latin typeface="Studio-Feixen-Sans"/>
              </a:rPr>
              <a:t> They are similar to histograms, but instead of representing the data as bars, density plots use a smooth curve to estimate the density of the data.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05192D"/>
                </a:solidFill>
                <a:effectLst/>
                <a:latin typeface="Studio-Feixen-Sans"/>
              </a:rPr>
              <a:t>In </a:t>
            </a:r>
            <a:r>
              <a:rPr kumimoji="0" lang="en-US" sz="2000" b="0" i="0" u="none" strike="noStrike" cap="none" normalizeH="0" baseline="0" dirty="0" err="1" smtClean="0">
                <a:ln>
                  <a:noFill/>
                </a:ln>
                <a:solidFill>
                  <a:srgbClr val="05192D"/>
                </a:solidFill>
                <a:effectLst/>
                <a:latin typeface="Studio-Feixen-Sans"/>
              </a:rPr>
              <a:t>Seaborn</a:t>
            </a:r>
            <a:r>
              <a:rPr kumimoji="0" lang="en-US" sz="2000" b="0" i="0" u="none" strike="noStrike" cap="none" normalizeH="0" baseline="0" dirty="0" smtClean="0">
                <a:ln>
                  <a:noFill/>
                </a:ln>
                <a:solidFill>
                  <a:srgbClr val="05192D"/>
                </a:solidFill>
                <a:effectLst/>
                <a:latin typeface="Studio-Feixen-Sans"/>
              </a:rPr>
              <a:t>, density plots can be created using the </a:t>
            </a:r>
            <a:r>
              <a:rPr kumimoji="0" lang="en-US" sz="2000" b="0" i="0" u="none" strike="noStrike" cap="none" normalizeH="0" baseline="0" dirty="0" err="1" smtClean="0">
                <a:ln>
                  <a:noFill/>
                </a:ln>
                <a:solidFill>
                  <a:srgbClr val="05192D"/>
                </a:solidFill>
                <a:effectLst/>
                <a:latin typeface="Studio-Feixen-Sans"/>
              </a:rPr>
              <a:t>kdeplot</a:t>
            </a:r>
            <a:r>
              <a:rPr kumimoji="0" lang="en-US" sz="2000" b="0" i="0" u="none" strike="noStrike" cap="none" normalizeH="0" baseline="0" dirty="0" smtClean="0">
                <a:ln>
                  <a:noFill/>
                </a:ln>
                <a:solidFill>
                  <a:srgbClr val="05192D"/>
                </a:solidFill>
                <a:effectLst/>
                <a:latin typeface="Studio-Feixen-Sans"/>
              </a:rPr>
              <a:t>() function. </a:t>
            </a:r>
            <a:r>
              <a:rPr kumimoji="0" lang="en-US" sz="2000" b="0" i="0" u="none" strike="noStrike" cap="none" normalizeH="0" baseline="0" dirty="0" smtClean="0">
                <a:ln>
                  <a:noFill/>
                </a:ln>
                <a:solidFill>
                  <a:schemeClr val="tx1"/>
                </a:solidFill>
                <a:effectLst/>
              </a:rPr>
              <a:t> </a:t>
            </a:r>
          </a:p>
          <a:p>
            <a:pPr marL="0" marR="0" lvl="0" indent="0" algn="just" defTabSz="914400" rtl="0" eaLnBrk="0" fontAlgn="base" latinLnBrk="0" hangingPunct="0">
              <a:lnSpc>
                <a:spcPct val="100000"/>
              </a:lnSpc>
              <a:spcBef>
                <a:spcPct val="0"/>
              </a:spcBef>
              <a:spcAft>
                <a:spcPct val="0"/>
              </a:spcAft>
              <a:buClrTx/>
              <a:buSzTx/>
              <a:buFontTx/>
              <a:buNone/>
              <a:tabLst/>
            </a:pPr>
            <a:endParaRPr lang="en-US" sz="2000" dirty="0"/>
          </a:p>
          <a:p>
            <a:pPr marL="0" lvl="0" indent="0" algn="just">
              <a:lnSpc>
                <a:spcPct val="100000"/>
              </a:lnSpc>
              <a:buNone/>
            </a:pPr>
            <a:r>
              <a:rPr kumimoji="0" lang="en-US" sz="2000" b="0" i="0" u="none" strike="noStrike" cap="none" normalizeH="0" baseline="0" dirty="0" smtClean="0">
                <a:ln>
                  <a:noFill/>
                </a:ln>
                <a:solidFill>
                  <a:schemeClr val="tx1"/>
                </a:solidFill>
                <a:effectLst/>
              </a:rPr>
              <a:t>import </a:t>
            </a:r>
            <a:r>
              <a:rPr kumimoji="0" lang="en-US" sz="2000" b="0" i="0" u="none" strike="noStrike" cap="none" normalizeH="0" baseline="0" dirty="0" err="1" smtClean="0">
                <a:ln>
                  <a:noFill/>
                </a:ln>
                <a:solidFill>
                  <a:schemeClr val="tx1"/>
                </a:solidFill>
                <a:effectLst/>
              </a:rPr>
              <a:t>seaborn</a:t>
            </a:r>
            <a:r>
              <a:rPr kumimoji="0" lang="en-US" sz="2000" b="0" i="0" u="none" strike="noStrike" cap="none" normalizeH="0" baseline="0" dirty="0" smtClean="0">
                <a:ln>
                  <a:noFill/>
                </a:ln>
                <a:solidFill>
                  <a:schemeClr val="tx1"/>
                </a:solidFill>
                <a:effectLst/>
              </a:rPr>
              <a:t> as </a:t>
            </a:r>
            <a:r>
              <a:rPr kumimoji="0" lang="en-US" sz="2000" b="0" i="0" u="none" strike="noStrike" cap="none" normalizeH="0" baseline="0" dirty="0" err="1" smtClean="0">
                <a:ln>
                  <a:noFill/>
                </a:ln>
                <a:solidFill>
                  <a:schemeClr val="tx1"/>
                </a:solidFill>
                <a:effectLst/>
              </a:rPr>
              <a:t>sns</a:t>
            </a:r>
            <a:endParaRPr kumimoji="0" lang="en-US" sz="2000" b="0" i="0" u="none" strike="noStrike" cap="none" normalizeH="0" baseline="0" dirty="0" smtClean="0">
              <a:ln>
                <a:noFill/>
              </a:ln>
              <a:solidFill>
                <a:schemeClr val="tx1"/>
              </a:solidFill>
              <a:effectLst/>
            </a:endParaRPr>
          </a:p>
          <a:p>
            <a:pPr marL="0" lvl="0" indent="0" algn="just">
              <a:lnSpc>
                <a:spcPct val="100000"/>
              </a:lnSpc>
              <a:buNone/>
            </a:pPr>
            <a:endParaRPr kumimoji="0" lang="en-US" sz="2000" b="0" i="0" u="none" strike="noStrike" cap="none" normalizeH="0" baseline="0" dirty="0" smtClean="0">
              <a:ln>
                <a:noFill/>
              </a:ln>
              <a:solidFill>
                <a:schemeClr val="tx1"/>
              </a:solidFill>
              <a:effectLst/>
            </a:endParaRPr>
          </a:p>
          <a:p>
            <a:pPr marL="0" lvl="0" indent="0" algn="just">
              <a:lnSpc>
                <a:spcPct val="100000"/>
              </a:lnSpc>
              <a:buNone/>
            </a:pPr>
            <a:r>
              <a:rPr kumimoji="0" lang="en-US" sz="2000" b="0" i="0" u="none" strike="noStrike" cap="none" normalizeH="0" baseline="0" dirty="0" smtClean="0">
                <a:ln>
                  <a:noFill/>
                </a:ln>
                <a:solidFill>
                  <a:schemeClr val="tx1"/>
                </a:solidFill>
                <a:effectLst/>
              </a:rPr>
              <a:t>import </a:t>
            </a:r>
            <a:r>
              <a:rPr kumimoji="0" lang="en-US" sz="2000" b="0" i="0" u="none" strike="noStrike" cap="none" normalizeH="0" baseline="0" dirty="0" err="1" smtClean="0">
                <a:ln>
                  <a:noFill/>
                </a:ln>
                <a:solidFill>
                  <a:schemeClr val="tx1"/>
                </a:solidFill>
                <a:effectLst/>
              </a:rPr>
              <a:t>matplotlib.pyplot</a:t>
            </a:r>
            <a:r>
              <a:rPr kumimoji="0" lang="en-US" sz="2000" b="0" i="0" u="none" strike="noStrike" cap="none" normalizeH="0" baseline="0" dirty="0" smtClean="0">
                <a:ln>
                  <a:noFill/>
                </a:ln>
                <a:solidFill>
                  <a:schemeClr val="tx1"/>
                </a:solidFill>
                <a:effectLst/>
              </a:rPr>
              <a:t> as </a:t>
            </a:r>
            <a:r>
              <a:rPr kumimoji="0" lang="en-US" sz="2000" b="0" i="0" u="none" strike="noStrike" cap="none" normalizeH="0" baseline="0" dirty="0" err="1" smtClean="0">
                <a:ln>
                  <a:noFill/>
                </a:ln>
                <a:solidFill>
                  <a:schemeClr val="tx1"/>
                </a:solidFill>
                <a:effectLst/>
              </a:rPr>
              <a:t>plt</a:t>
            </a:r>
            <a:endParaRPr kumimoji="0" lang="en-US" sz="2000" b="0" i="0" u="none" strike="noStrike" cap="none" normalizeH="0" baseline="0" dirty="0" smtClean="0">
              <a:ln>
                <a:noFill/>
              </a:ln>
              <a:solidFill>
                <a:schemeClr val="tx1"/>
              </a:solidFill>
              <a:effectLst/>
            </a:endParaRPr>
          </a:p>
          <a:p>
            <a:pPr marL="0" lvl="0" indent="0" algn="just">
              <a:lnSpc>
                <a:spcPct val="100000"/>
              </a:lnSpc>
              <a:buNone/>
            </a:pPr>
            <a:r>
              <a:rPr kumimoji="0" lang="en-US" sz="2000" b="0" i="0" u="none" strike="noStrike" cap="none" normalizeH="0" baseline="0" dirty="0" smtClean="0">
                <a:ln>
                  <a:noFill/>
                </a:ln>
                <a:solidFill>
                  <a:schemeClr val="tx1"/>
                </a:solidFill>
                <a:effectLst/>
              </a:rPr>
              <a:t>tips = </a:t>
            </a:r>
            <a:r>
              <a:rPr kumimoji="0" lang="en-US" sz="2000" b="0" i="0" u="none" strike="noStrike" cap="none" normalizeH="0" baseline="0" dirty="0" err="1" smtClean="0">
                <a:ln>
                  <a:noFill/>
                </a:ln>
                <a:solidFill>
                  <a:schemeClr val="tx1"/>
                </a:solidFill>
                <a:effectLst/>
              </a:rPr>
              <a:t>sns.load_dataset</a:t>
            </a:r>
            <a:r>
              <a:rPr kumimoji="0" lang="en-US" sz="2000" b="0" i="0" u="none" strike="noStrike" cap="none" normalizeH="0" baseline="0" dirty="0" smtClean="0">
                <a:ln>
                  <a:noFill/>
                </a:ln>
                <a:solidFill>
                  <a:schemeClr val="tx1"/>
                </a:solidFill>
                <a:effectLst/>
              </a:rPr>
              <a:t>("tips")</a:t>
            </a:r>
          </a:p>
          <a:p>
            <a:pPr marL="0" lvl="0" indent="0" algn="just">
              <a:lnSpc>
                <a:spcPct val="100000"/>
              </a:lnSpc>
              <a:buNone/>
            </a:pPr>
            <a:r>
              <a:rPr kumimoji="0" lang="en-US" sz="2000" b="0" i="0" u="none" strike="noStrike" cap="none" normalizeH="0" baseline="0" dirty="0" err="1" smtClean="0">
                <a:ln>
                  <a:noFill/>
                </a:ln>
                <a:solidFill>
                  <a:schemeClr val="tx1"/>
                </a:solidFill>
                <a:effectLst/>
              </a:rPr>
              <a:t>sns.kdeplot</a:t>
            </a:r>
            <a:r>
              <a:rPr kumimoji="0" lang="en-US" sz="2000" b="0" i="0" u="none" strike="noStrike" cap="none" normalizeH="0" baseline="0" dirty="0" smtClean="0">
                <a:ln>
                  <a:noFill/>
                </a:ln>
                <a:solidFill>
                  <a:schemeClr val="tx1"/>
                </a:solidFill>
                <a:effectLst/>
              </a:rPr>
              <a:t>(data=tips, x="</a:t>
            </a:r>
            <a:r>
              <a:rPr kumimoji="0" lang="en-US" sz="2000" b="0" i="0" u="none" strike="noStrike" cap="none" normalizeH="0" baseline="0" dirty="0" err="1" smtClean="0">
                <a:ln>
                  <a:noFill/>
                </a:ln>
                <a:solidFill>
                  <a:schemeClr val="tx1"/>
                </a:solidFill>
                <a:effectLst/>
              </a:rPr>
              <a:t>total_bill</a:t>
            </a:r>
            <a:r>
              <a:rPr kumimoji="0" lang="en-US" sz="2000" b="0" i="0" u="none" strike="noStrike" cap="none" normalizeH="0" baseline="0" dirty="0" smtClean="0">
                <a:ln>
                  <a:noFill/>
                </a:ln>
                <a:solidFill>
                  <a:schemeClr val="tx1"/>
                </a:solidFill>
                <a:effectLst/>
              </a:rPr>
              <a:t>", hue="time", fill=True, alpha=0.6, </a:t>
            </a:r>
            <a:r>
              <a:rPr kumimoji="0" lang="en-US" sz="2000" b="0" i="0" u="none" strike="noStrike" cap="none" normalizeH="0" baseline="0" dirty="0" err="1" smtClean="0">
                <a:ln>
                  <a:noFill/>
                </a:ln>
                <a:solidFill>
                  <a:schemeClr val="tx1"/>
                </a:solidFill>
                <a:effectLst/>
              </a:rPr>
              <a:t>linewidth</a:t>
            </a:r>
            <a:r>
              <a:rPr kumimoji="0" lang="en-US" sz="2000" b="0" i="0" u="none" strike="noStrike" cap="none" normalizeH="0" baseline="0" dirty="0" smtClean="0">
                <a:ln>
                  <a:noFill/>
                </a:ln>
                <a:solidFill>
                  <a:schemeClr val="tx1"/>
                </a:solidFill>
                <a:effectLst/>
              </a:rPr>
              <a:t>=1.5)</a:t>
            </a:r>
          </a:p>
          <a:p>
            <a:pPr marL="0" lvl="0" indent="0" algn="just">
              <a:lnSpc>
                <a:spcPct val="100000"/>
              </a:lnSpc>
              <a:buNone/>
            </a:pPr>
            <a:r>
              <a:rPr kumimoji="0" lang="en-US" sz="2000" b="0" i="0" u="none" strike="noStrike" cap="none" normalizeH="0" baseline="0" dirty="0" err="1" smtClean="0">
                <a:ln>
                  <a:noFill/>
                </a:ln>
                <a:solidFill>
                  <a:schemeClr val="tx1"/>
                </a:solidFill>
                <a:effectLst/>
              </a:rPr>
              <a:t>plt.title</a:t>
            </a:r>
            <a:r>
              <a:rPr kumimoji="0" lang="en-US" sz="2000" b="0" i="0" u="none" strike="noStrike" cap="none" normalizeH="0" baseline="0" dirty="0" smtClean="0">
                <a:ln>
                  <a:noFill/>
                </a:ln>
                <a:solidFill>
                  <a:schemeClr val="tx1"/>
                </a:solidFill>
                <a:effectLst/>
              </a:rPr>
              <a:t>("Density Plot of Total Bill by Meal Time")</a:t>
            </a:r>
          </a:p>
          <a:p>
            <a:pPr marL="0" lvl="0" indent="0" algn="just">
              <a:lnSpc>
                <a:spcPct val="100000"/>
              </a:lnSpc>
              <a:buNone/>
            </a:pPr>
            <a:r>
              <a:rPr kumimoji="0" lang="en-US" sz="2000" b="0" i="0" u="none" strike="noStrike" cap="none" normalizeH="0" baseline="0" dirty="0" err="1" smtClean="0">
                <a:ln>
                  <a:noFill/>
                </a:ln>
                <a:solidFill>
                  <a:schemeClr val="tx1"/>
                </a:solidFill>
                <a:effectLst/>
              </a:rPr>
              <a:t>plt.xlabel</a:t>
            </a:r>
            <a:r>
              <a:rPr kumimoji="0" lang="en-US" sz="2000" b="0" i="0" u="none" strike="noStrike" cap="none" normalizeH="0" baseline="0" dirty="0" smtClean="0">
                <a:ln>
                  <a:noFill/>
                </a:ln>
                <a:solidFill>
                  <a:schemeClr val="tx1"/>
                </a:solidFill>
                <a:effectLst/>
              </a:rPr>
              <a:t>("Total Bill ($)")</a:t>
            </a:r>
          </a:p>
          <a:p>
            <a:pPr marL="0" lvl="0" indent="0" algn="just">
              <a:lnSpc>
                <a:spcPct val="100000"/>
              </a:lnSpc>
              <a:buNone/>
            </a:pPr>
            <a:r>
              <a:rPr kumimoji="0" lang="en-US" sz="2000" b="0" i="0" u="none" strike="noStrike" cap="none" normalizeH="0" baseline="0" dirty="0" err="1" smtClean="0">
                <a:ln>
                  <a:noFill/>
                </a:ln>
                <a:solidFill>
                  <a:schemeClr val="tx1"/>
                </a:solidFill>
                <a:effectLst/>
              </a:rPr>
              <a:t>plt.ylabel</a:t>
            </a:r>
            <a:r>
              <a:rPr kumimoji="0" lang="en-US" sz="2000" b="0" i="0" u="none" strike="noStrike" cap="none" normalizeH="0" baseline="0" dirty="0" smtClean="0">
                <a:ln>
                  <a:noFill/>
                </a:ln>
                <a:solidFill>
                  <a:schemeClr val="tx1"/>
                </a:solidFill>
                <a:effectLst/>
              </a:rPr>
              <a:t>("Density")</a:t>
            </a:r>
          </a:p>
          <a:p>
            <a:pPr marL="0" lvl="0" indent="0" algn="just">
              <a:lnSpc>
                <a:spcPct val="100000"/>
              </a:lnSpc>
              <a:buNone/>
            </a:pPr>
            <a:r>
              <a:rPr kumimoji="0" lang="en-US" sz="2000" b="0" i="0" u="none" strike="noStrike" cap="none" normalizeH="0" baseline="0" dirty="0" err="1" smtClean="0">
                <a:ln>
                  <a:noFill/>
                </a:ln>
                <a:solidFill>
                  <a:schemeClr val="tx1"/>
                </a:solidFill>
                <a:effectLst/>
              </a:rPr>
              <a:t>plt.show</a:t>
            </a:r>
            <a:r>
              <a:rPr kumimoji="0" lang="en-US" sz="2000" b="0" i="0" u="none" strike="noStrike" cap="none" normalizeH="0" baseline="0" dirty="0" smtClean="0">
                <a:ln>
                  <a:noFill/>
                </a:ln>
                <a:solidFill>
                  <a:schemeClr val="tx1"/>
                </a:solidFill>
                <a:effectLst/>
              </a:rPr>
              <a:t>()</a:t>
            </a:r>
          </a:p>
        </p:txBody>
      </p:sp>
    </p:spTree>
    <p:extLst>
      <p:ext uri="{BB962C8B-B14F-4D97-AF65-F5344CB8AC3E}">
        <p14:creationId xmlns:p14="http://schemas.microsoft.com/office/powerpoint/2010/main" val="37475385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6219" y="1004551"/>
            <a:ext cx="9427335" cy="5383370"/>
          </a:xfrm>
        </p:spPr>
      </p:pic>
    </p:spTree>
    <p:extLst>
      <p:ext uri="{BB962C8B-B14F-4D97-AF65-F5344CB8AC3E}">
        <p14:creationId xmlns:p14="http://schemas.microsoft.com/office/powerpoint/2010/main" val="33552244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err="1"/>
              <a:t>Seaborn</a:t>
            </a:r>
            <a:r>
              <a:rPr lang="en-IN" b="1" dirty="0"/>
              <a:t> box plots</a:t>
            </a:r>
            <a:br>
              <a:rPr lang="en-IN" b="1" dirty="0"/>
            </a:br>
            <a:endParaRPr lang="en-IN" dirty="0"/>
          </a:p>
        </p:txBody>
      </p:sp>
      <p:sp>
        <p:nvSpPr>
          <p:cNvPr id="3" name="Content Placeholder 2"/>
          <p:cNvSpPr>
            <a:spLocks noGrp="1"/>
          </p:cNvSpPr>
          <p:nvPr>
            <p:ph idx="1"/>
          </p:nvPr>
        </p:nvSpPr>
        <p:spPr/>
        <p:txBody>
          <a:bodyPr/>
          <a:lstStyle/>
          <a:p>
            <a:r>
              <a:rPr lang="en-US" dirty="0"/>
              <a:t>Box plots are a type of visualization that shows the distribution of a dataset. They are commonly used to compare the distribution of one or more variables across different categories</a:t>
            </a:r>
            <a:r>
              <a:rPr lang="en-US" dirty="0" smtClean="0"/>
              <a:t>.</a:t>
            </a:r>
          </a:p>
          <a:p>
            <a:endParaRPr lang="en-US" dirty="0"/>
          </a:p>
          <a:p>
            <a:r>
              <a:rPr lang="en-IN" dirty="0" smtClean="0"/>
              <a:t>import </a:t>
            </a:r>
            <a:r>
              <a:rPr lang="en-IN" dirty="0" err="1" smtClean="0"/>
              <a:t>seaborn</a:t>
            </a:r>
            <a:r>
              <a:rPr lang="en-IN" dirty="0" smtClean="0"/>
              <a:t> as </a:t>
            </a:r>
            <a:r>
              <a:rPr lang="en-IN" dirty="0" err="1" smtClean="0"/>
              <a:t>sns</a:t>
            </a:r>
            <a:endParaRPr lang="en-IN" dirty="0"/>
          </a:p>
          <a:p>
            <a:pPr marL="0" indent="0">
              <a:buNone/>
            </a:pPr>
            <a:r>
              <a:rPr lang="en-IN" dirty="0" smtClean="0"/>
              <a:t>tips = </a:t>
            </a:r>
            <a:r>
              <a:rPr lang="en-IN" dirty="0" err="1" smtClean="0"/>
              <a:t>sns.load_dataset</a:t>
            </a:r>
            <a:r>
              <a:rPr lang="en-IN" dirty="0" smtClean="0"/>
              <a:t>("tips")</a:t>
            </a:r>
          </a:p>
          <a:p>
            <a:pPr marL="0" indent="0">
              <a:buNone/>
            </a:pPr>
            <a:r>
              <a:rPr lang="en-IN" dirty="0" err="1" smtClean="0"/>
              <a:t>sns.boxplot</a:t>
            </a:r>
            <a:r>
              <a:rPr lang="en-IN" dirty="0" smtClean="0"/>
              <a:t>(x="day", y="</a:t>
            </a:r>
            <a:r>
              <a:rPr lang="en-IN" dirty="0" err="1" smtClean="0"/>
              <a:t>total_bill</a:t>
            </a:r>
            <a:r>
              <a:rPr lang="en-IN" dirty="0" smtClean="0"/>
              <a:t>", data=tips)</a:t>
            </a:r>
            <a:endParaRPr lang="en-IN" dirty="0"/>
          </a:p>
        </p:txBody>
      </p:sp>
    </p:spTree>
    <p:extLst>
      <p:ext uri="{BB962C8B-B14F-4D97-AF65-F5344CB8AC3E}">
        <p14:creationId xmlns:p14="http://schemas.microsoft.com/office/powerpoint/2010/main" val="13219257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721217" y="682580"/>
            <a:ext cx="9504607" cy="4252164"/>
          </a:xfrm>
          <a:prstGeom prst="rect">
            <a:avLst/>
          </a:prstGeom>
        </p:spPr>
      </p:pic>
    </p:spTree>
    <p:extLst>
      <p:ext uri="{BB962C8B-B14F-4D97-AF65-F5344CB8AC3E}">
        <p14:creationId xmlns:p14="http://schemas.microsoft.com/office/powerpoint/2010/main" val="24727929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err="1"/>
              <a:t>Seaborn</a:t>
            </a:r>
            <a:r>
              <a:rPr lang="en-IN" b="1" dirty="0"/>
              <a:t> violin plots</a:t>
            </a:r>
            <a:br>
              <a:rPr lang="en-IN" b="1" dirty="0"/>
            </a:br>
            <a:endParaRPr lang="en-IN" dirty="0"/>
          </a:p>
        </p:txBody>
      </p:sp>
      <p:sp>
        <p:nvSpPr>
          <p:cNvPr id="3" name="Content Placeholder 2"/>
          <p:cNvSpPr>
            <a:spLocks noGrp="1"/>
          </p:cNvSpPr>
          <p:nvPr>
            <p:ph idx="1"/>
          </p:nvPr>
        </p:nvSpPr>
        <p:spPr>
          <a:xfrm>
            <a:off x="838200" y="1120462"/>
            <a:ext cx="10515600" cy="5241701"/>
          </a:xfrm>
        </p:spPr>
        <p:txBody>
          <a:bodyPr>
            <a:normAutofit lnSpcReduction="10000"/>
          </a:bodyPr>
          <a:lstStyle/>
          <a:p>
            <a:r>
              <a:rPr lang="en-US" dirty="0"/>
              <a:t>A violin plot is a type of data visualization that combines aspects of both box plots and density plots. It displays a density estimate of the data, usually smoothed by a kernel density estimator, along with the interquartile range (IQR) and median in a box plot-like form. </a:t>
            </a:r>
          </a:p>
          <a:p>
            <a:r>
              <a:rPr lang="en-US" dirty="0"/>
              <a:t>The width of the violin represents the density estimate, with wider parts indicating higher density, and the IQR and median are shown as a white dot and line within the violin</a:t>
            </a:r>
            <a:r>
              <a:rPr lang="en-US" dirty="0" smtClean="0"/>
              <a:t>.</a:t>
            </a:r>
          </a:p>
          <a:p>
            <a:endParaRPr lang="en-US" dirty="0" smtClean="0"/>
          </a:p>
          <a:p>
            <a:pPr marL="0" indent="0">
              <a:buNone/>
            </a:pPr>
            <a:r>
              <a:rPr lang="en-US" dirty="0" smtClean="0"/>
              <a:t>import </a:t>
            </a:r>
            <a:r>
              <a:rPr lang="en-US" dirty="0" err="1" smtClean="0"/>
              <a:t>seaborn</a:t>
            </a:r>
            <a:r>
              <a:rPr lang="en-US" dirty="0" smtClean="0"/>
              <a:t> as </a:t>
            </a:r>
            <a:r>
              <a:rPr lang="en-US" dirty="0" err="1" smtClean="0"/>
              <a:t>sns</a:t>
            </a:r>
            <a:endParaRPr lang="en-US" dirty="0" smtClean="0"/>
          </a:p>
          <a:p>
            <a:pPr marL="0" indent="0">
              <a:buNone/>
            </a:pPr>
            <a:r>
              <a:rPr lang="en-US" dirty="0" smtClean="0"/>
              <a:t>iris = </a:t>
            </a:r>
            <a:r>
              <a:rPr lang="en-US" dirty="0" err="1" smtClean="0"/>
              <a:t>sns.load_dataset</a:t>
            </a:r>
            <a:r>
              <a:rPr lang="en-US" dirty="0" smtClean="0"/>
              <a:t>("iris")</a:t>
            </a:r>
          </a:p>
          <a:p>
            <a:pPr marL="0" indent="0">
              <a:buNone/>
            </a:pPr>
            <a:r>
              <a:rPr lang="en-US" dirty="0" err="1" smtClean="0"/>
              <a:t>sns.violinplot</a:t>
            </a:r>
            <a:r>
              <a:rPr lang="en-US" dirty="0" smtClean="0"/>
              <a:t>(x="species", y="</a:t>
            </a:r>
            <a:r>
              <a:rPr lang="en-US" dirty="0" err="1" smtClean="0"/>
              <a:t>petal_length</a:t>
            </a:r>
            <a:r>
              <a:rPr lang="en-US" dirty="0" smtClean="0"/>
              <a:t>", data=iris)</a:t>
            </a:r>
          </a:p>
          <a:p>
            <a:pPr marL="0" indent="0">
              <a:buNone/>
            </a:pPr>
            <a:r>
              <a:rPr lang="en-US" dirty="0" err="1" smtClean="0"/>
              <a:t>plt.show</a:t>
            </a:r>
            <a:r>
              <a:rPr lang="en-US" dirty="0" smtClean="0"/>
              <a:t>()</a:t>
            </a:r>
            <a:endParaRPr lang="en-US" dirty="0"/>
          </a:p>
          <a:p>
            <a:endParaRPr lang="en-IN" dirty="0"/>
          </a:p>
        </p:txBody>
      </p:sp>
    </p:spTree>
    <p:extLst>
      <p:ext uri="{BB962C8B-B14F-4D97-AF65-F5344CB8AC3E}">
        <p14:creationId xmlns:p14="http://schemas.microsoft.com/office/powerpoint/2010/main" val="23695178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721217" y="566669"/>
            <a:ext cx="9543245" cy="5525037"/>
          </a:xfrm>
          <a:prstGeom prst="rect">
            <a:avLst/>
          </a:prstGeom>
        </p:spPr>
      </p:pic>
    </p:spTree>
    <p:extLst>
      <p:ext uri="{BB962C8B-B14F-4D97-AF65-F5344CB8AC3E}">
        <p14:creationId xmlns:p14="http://schemas.microsoft.com/office/powerpoint/2010/main" val="21258286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err="1"/>
              <a:t>Seaborn</a:t>
            </a:r>
            <a:r>
              <a:rPr lang="en-IN" b="1" dirty="0"/>
              <a:t> </a:t>
            </a:r>
            <a:r>
              <a:rPr lang="en-IN" b="1" dirty="0" err="1"/>
              <a:t>heatmaps</a:t>
            </a:r>
            <a:r>
              <a:rPr lang="en-IN" b="1" dirty="0"/>
              <a:t/>
            </a:r>
            <a:br>
              <a:rPr lang="en-IN" b="1" dirty="0"/>
            </a:br>
            <a:endParaRPr lang="en-IN" dirty="0"/>
          </a:p>
        </p:txBody>
      </p:sp>
      <p:sp>
        <p:nvSpPr>
          <p:cNvPr id="3" name="Content Placeholder 2"/>
          <p:cNvSpPr>
            <a:spLocks noGrp="1"/>
          </p:cNvSpPr>
          <p:nvPr>
            <p:ph idx="1"/>
          </p:nvPr>
        </p:nvSpPr>
        <p:spPr>
          <a:xfrm>
            <a:off x="657896" y="1492406"/>
            <a:ext cx="10515600" cy="4560664"/>
          </a:xfrm>
        </p:spPr>
        <p:txBody>
          <a:bodyPr>
            <a:normAutofit fontScale="92500" lnSpcReduction="20000"/>
          </a:bodyPr>
          <a:lstStyle/>
          <a:p>
            <a:r>
              <a:rPr lang="en-US" dirty="0"/>
              <a:t>A </a:t>
            </a:r>
            <a:r>
              <a:rPr lang="en-US" dirty="0" err="1"/>
              <a:t>heatmap</a:t>
            </a:r>
            <a:r>
              <a:rPr lang="en-US" dirty="0"/>
              <a:t> is a graphical representation of data that uses colors to depict the value of a variable in a two-dimensional space. </a:t>
            </a:r>
            <a:r>
              <a:rPr lang="en-US" dirty="0" err="1"/>
              <a:t>Heatmaps</a:t>
            </a:r>
            <a:r>
              <a:rPr lang="en-US" dirty="0"/>
              <a:t> are commonly used to visualize the correlation between different variables in a dataset</a:t>
            </a:r>
            <a:r>
              <a:rPr lang="en-US" dirty="0" smtClean="0"/>
              <a:t>.</a:t>
            </a:r>
          </a:p>
          <a:p>
            <a:endParaRPr lang="en-US" dirty="0"/>
          </a:p>
          <a:p>
            <a:pPr marL="0" indent="0">
              <a:buNone/>
            </a:pPr>
            <a:r>
              <a:rPr lang="en-IN" dirty="0" smtClean="0"/>
              <a:t>import </a:t>
            </a:r>
            <a:r>
              <a:rPr lang="en-IN" dirty="0" err="1" smtClean="0"/>
              <a:t>seaborn</a:t>
            </a:r>
            <a:r>
              <a:rPr lang="en-IN" dirty="0" smtClean="0"/>
              <a:t> as </a:t>
            </a:r>
            <a:r>
              <a:rPr lang="en-IN" dirty="0" err="1" smtClean="0"/>
              <a:t>sns</a:t>
            </a:r>
            <a:endParaRPr lang="en-IN" dirty="0" smtClean="0"/>
          </a:p>
          <a:p>
            <a:pPr marL="0" indent="0">
              <a:buNone/>
            </a:pPr>
            <a:r>
              <a:rPr lang="en-IN" dirty="0" smtClean="0"/>
              <a:t>import </a:t>
            </a:r>
            <a:r>
              <a:rPr lang="en-IN" dirty="0" err="1" smtClean="0"/>
              <a:t>matplotlib.pyplot</a:t>
            </a:r>
            <a:r>
              <a:rPr lang="en-IN" dirty="0" smtClean="0"/>
              <a:t> as </a:t>
            </a:r>
            <a:r>
              <a:rPr lang="en-IN" dirty="0" err="1" smtClean="0"/>
              <a:t>plt</a:t>
            </a:r>
            <a:endParaRPr lang="en-IN" dirty="0" smtClean="0"/>
          </a:p>
          <a:p>
            <a:endParaRPr lang="en-IN" dirty="0" smtClean="0"/>
          </a:p>
          <a:p>
            <a:pPr marL="0" indent="0">
              <a:buNone/>
            </a:pPr>
            <a:r>
              <a:rPr lang="en-IN" dirty="0" smtClean="0"/>
              <a:t>tips = </a:t>
            </a:r>
            <a:r>
              <a:rPr lang="en-IN" dirty="0" err="1" smtClean="0"/>
              <a:t>sns.load_dataset</a:t>
            </a:r>
            <a:r>
              <a:rPr lang="en-IN" dirty="0" smtClean="0"/>
              <a:t>('tips')</a:t>
            </a:r>
          </a:p>
          <a:p>
            <a:pPr marL="0" indent="0">
              <a:buNone/>
            </a:pPr>
            <a:r>
              <a:rPr lang="en-IN" dirty="0" err="1" smtClean="0"/>
              <a:t>corr</a:t>
            </a:r>
            <a:r>
              <a:rPr lang="en-IN" dirty="0" smtClean="0"/>
              <a:t> = </a:t>
            </a:r>
            <a:r>
              <a:rPr lang="en-IN" dirty="0" err="1" smtClean="0"/>
              <a:t>tips.corr</a:t>
            </a:r>
            <a:r>
              <a:rPr lang="en-IN" dirty="0" smtClean="0"/>
              <a:t>()</a:t>
            </a:r>
          </a:p>
          <a:p>
            <a:pPr marL="0" indent="0">
              <a:buNone/>
            </a:pPr>
            <a:r>
              <a:rPr lang="en-IN" dirty="0" err="1" smtClean="0"/>
              <a:t>sns.heatmap</a:t>
            </a:r>
            <a:r>
              <a:rPr lang="en-IN" dirty="0" smtClean="0"/>
              <a:t>(</a:t>
            </a:r>
            <a:r>
              <a:rPr lang="en-IN" dirty="0" err="1" smtClean="0"/>
              <a:t>corr</a:t>
            </a:r>
            <a:r>
              <a:rPr lang="en-IN" dirty="0" smtClean="0"/>
              <a:t>)</a:t>
            </a:r>
          </a:p>
          <a:p>
            <a:pPr marL="0" indent="0">
              <a:buNone/>
            </a:pPr>
            <a:r>
              <a:rPr lang="en-IN" dirty="0" err="1" smtClean="0"/>
              <a:t>plt.show</a:t>
            </a:r>
            <a:r>
              <a:rPr lang="en-IN" dirty="0" smtClean="0"/>
              <a:t>()</a:t>
            </a:r>
            <a:endParaRPr lang="en-IN" dirty="0"/>
          </a:p>
        </p:txBody>
      </p:sp>
    </p:spTree>
    <p:extLst>
      <p:ext uri="{BB962C8B-B14F-4D97-AF65-F5344CB8AC3E}">
        <p14:creationId xmlns:p14="http://schemas.microsoft.com/office/powerpoint/2010/main" val="22020143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421447" y="914400"/>
            <a:ext cx="10976356" cy="4404575"/>
          </a:xfrm>
          <a:prstGeom prst="rect">
            <a:avLst/>
          </a:prstGeom>
        </p:spPr>
      </p:pic>
    </p:spTree>
    <p:extLst>
      <p:ext uri="{BB962C8B-B14F-4D97-AF65-F5344CB8AC3E}">
        <p14:creationId xmlns:p14="http://schemas.microsoft.com/office/powerpoint/2010/main" val="36847078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err="1"/>
              <a:t>Seaborn</a:t>
            </a:r>
            <a:r>
              <a:rPr lang="en-IN" b="1" dirty="0"/>
              <a:t> pair plots</a:t>
            </a:r>
            <a:br>
              <a:rPr lang="en-IN" b="1" dirty="0"/>
            </a:br>
            <a:endParaRPr lang="en-IN" dirty="0"/>
          </a:p>
        </p:txBody>
      </p:sp>
      <p:sp>
        <p:nvSpPr>
          <p:cNvPr id="3" name="Content Placeholder 2"/>
          <p:cNvSpPr>
            <a:spLocks noGrp="1"/>
          </p:cNvSpPr>
          <p:nvPr>
            <p:ph idx="1"/>
          </p:nvPr>
        </p:nvSpPr>
        <p:spPr>
          <a:xfrm>
            <a:off x="838200" y="1825624"/>
            <a:ext cx="10515600" cy="5644121"/>
          </a:xfrm>
        </p:spPr>
        <p:txBody>
          <a:bodyPr>
            <a:normAutofit/>
          </a:bodyPr>
          <a:lstStyle/>
          <a:p>
            <a:r>
              <a:rPr lang="en-US" dirty="0"/>
              <a:t>Pair plots are a type of visualization in which multiple pairwise scatter plots are displayed in a matrix format. Each scatter plot shows the relationship between two variables, while the diagonal plots show the distribution of the individual variables</a:t>
            </a:r>
            <a:r>
              <a:rPr lang="en-US" dirty="0" smtClean="0"/>
              <a:t>.</a:t>
            </a:r>
          </a:p>
          <a:p>
            <a:endParaRPr lang="en-US" dirty="0" smtClean="0"/>
          </a:p>
          <a:p>
            <a:pPr marL="0" indent="0">
              <a:buNone/>
            </a:pPr>
            <a:r>
              <a:rPr lang="en-US" dirty="0" smtClean="0"/>
              <a:t>import </a:t>
            </a:r>
            <a:r>
              <a:rPr lang="en-US" dirty="0" err="1" smtClean="0"/>
              <a:t>seaborn</a:t>
            </a:r>
            <a:r>
              <a:rPr lang="en-US" dirty="0" smtClean="0"/>
              <a:t> as </a:t>
            </a:r>
            <a:r>
              <a:rPr lang="en-US" dirty="0" err="1" smtClean="0"/>
              <a:t>sns</a:t>
            </a:r>
            <a:endParaRPr lang="en-US" dirty="0" smtClean="0"/>
          </a:p>
          <a:p>
            <a:pPr marL="0" indent="0">
              <a:buNone/>
            </a:pPr>
            <a:r>
              <a:rPr lang="en-US" dirty="0" smtClean="0"/>
              <a:t>iris = </a:t>
            </a:r>
            <a:r>
              <a:rPr lang="en-US" dirty="0" err="1" smtClean="0"/>
              <a:t>sns.load_dataset</a:t>
            </a:r>
            <a:r>
              <a:rPr lang="en-US" dirty="0" smtClean="0"/>
              <a:t>("iris")</a:t>
            </a:r>
          </a:p>
          <a:p>
            <a:pPr marL="0" indent="0">
              <a:buNone/>
            </a:pPr>
            <a:r>
              <a:rPr lang="en-US" dirty="0" err="1" smtClean="0"/>
              <a:t>sns.pairplot</a:t>
            </a:r>
            <a:r>
              <a:rPr lang="en-US" dirty="0" smtClean="0"/>
              <a:t>(data=iris)</a:t>
            </a:r>
          </a:p>
          <a:p>
            <a:pPr marL="0" indent="0">
              <a:buNone/>
            </a:pPr>
            <a:r>
              <a:rPr lang="en-US" dirty="0" err="1" smtClean="0"/>
              <a:t>plt.show</a:t>
            </a:r>
            <a:r>
              <a:rPr lang="en-US" dirty="0" smtClean="0"/>
              <a:t>()</a:t>
            </a:r>
            <a:endParaRPr lang="en-US" dirty="0"/>
          </a:p>
        </p:txBody>
      </p:sp>
    </p:spTree>
    <p:extLst>
      <p:ext uri="{BB962C8B-B14F-4D97-AF65-F5344CB8AC3E}">
        <p14:creationId xmlns:p14="http://schemas.microsoft.com/office/powerpoint/2010/main" val="32910133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37127" y="656824"/>
            <a:ext cx="9800821" cy="4558908"/>
          </a:xfrm>
          <a:prstGeom prst="rect">
            <a:avLst/>
          </a:prstGeom>
        </p:spPr>
      </p:pic>
    </p:spTree>
    <p:extLst>
      <p:ext uri="{BB962C8B-B14F-4D97-AF65-F5344CB8AC3E}">
        <p14:creationId xmlns:p14="http://schemas.microsoft.com/office/powerpoint/2010/main" val="34454291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TotalTime>
  <Words>819</Words>
  <Application>Microsoft Office PowerPoint</Application>
  <PresentationFormat>Widescreen</PresentationFormat>
  <Paragraphs>140</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Studio-Feixen-Sans</vt:lpstr>
      <vt:lpstr>Office Theme</vt:lpstr>
      <vt:lpstr>     </vt:lpstr>
      <vt:lpstr>Seaborn Plot types </vt:lpstr>
      <vt:lpstr>Type Of Different Plot Using Seaborn</vt:lpstr>
      <vt:lpstr>Seaborn scatter plots </vt:lpstr>
      <vt:lpstr>PowerPoint Presentation</vt:lpstr>
      <vt:lpstr>Seaborn line plots </vt:lpstr>
      <vt:lpstr>PowerPoint Presentation</vt:lpstr>
      <vt:lpstr>Seaborn bar plots </vt:lpstr>
      <vt:lpstr>PowerPoint Presentation</vt:lpstr>
      <vt:lpstr>Seaborn histograms </vt:lpstr>
      <vt:lpstr>PowerPoint Presentation</vt:lpstr>
      <vt:lpstr>Seaborn density plots </vt:lpstr>
      <vt:lpstr>PowerPoint Presentation</vt:lpstr>
      <vt:lpstr>Seaborn box plots </vt:lpstr>
      <vt:lpstr>PowerPoint Presentation</vt:lpstr>
      <vt:lpstr>Seaborn violin plots </vt:lpstr>
      <vt:lpstr>PowerPoint Presentation</vt:lpstr>
      <vt:lpstr>Seaborn heatmaps </vt:lpstr>
      <vt:lpstr>PowerPoint Presentation</vt:lpstr>
      <vt:lpstr>Seaborn pair plots </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My Pc</dc:creator>
  <cp:lastModifiedBy>My Pc</cp:lastModifiedBy>
  <cp:revision>8</cp:revision>
  <dcterms:created xsi:type="dcterms:W3CDTF">2025-02-07T12:32:29Z</dcterms:created>
  <dcterms:modified xsi:type="dcterms:W3CDTF">2025-02-07T13:36:14Z</dcterms:modified>
</cp:coreProperties>
</file>